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0FF362-EBCA-95C9-78D8-375FE376621D}" v="3" dt="2026-03-18T07:00:44.1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c1018ad6-79f6-4ce8-92a0-b797019cca0d::" providerId="AD" clId="Web-{770FF362-EBCA-95C9-78D8-375FE376621D}"/>
    <pc:docChg chg="modSld">
      <pc:chgData name="Guest User" userId="S::urn:spo:tenantanon#c1018ad6-79f6-4ce8-92a0-b797019cca0d::" providerId="AD" clId="Web-{770FF362-EBCA-95C9-78D8-375FE376621D}" dt="2026-03-18T07:00:44.108" v="2" actId="20577"/>
      <pc:docMkLst>
        <pc:docMk/>
      </pc:docMkLst>
      <pc:sldChg chg="modSp">
        <pc:chgData name="Guest User" userId="S::urn:spo:tenantanon#c1018ad6-79f6-4ce8-92a0-b797019cca0d::" providerId="AD" clId="Web-{770FF362-EBCA-95C9-78D8-375FE376621D}" dt="2026-03-18T07:00:44.108" v="2" actId="20577"/>
        <pc:sldMkLst>
          <pc:docMk/>
          <pc:sldMk cId="0" sldId="256"/>
        </pc:sldMkLst>
        <pc:spChg chg="mod">
          <ac:chgData name="Guest User" userId="S::urn:spo:tenantanon#c1018ad6-79f6-4ce8-92a0-b797019cca0d::" providerId="AD" clId="Web-{770FF362-EBCA-95C9-78D8-375FE376621D}" dt="2026-03-18T07:00:44.108" v="2" actId="20577"/>
          <ac:spMkLst>
            <pc:docMk/>
            <pc:sldMk cId="0" sldId="256"/>
            <ac:spMk id="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475F3E-336C-4E78-8DFB-E8A852A28844}" type="datetimeFigureOut">
              <a:t>3/18/2026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CE61E5-97C2-4F24-A652-55E0249CB8A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998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62F4E"/>
          </a:solidFill>
          <a:ln w="12700">
            <a:solidFill>
              <a:srgbClr val="162F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54864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365760"/>
            <a:ext cx="164592" cy="164592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86600" y="365760"/>
            <a:ext cx="164592" cy="164592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0" y="365760"/>
            <a:ext cx="164592" cy="164592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92440" y="365760"/>
            <a:ext cx="164592" cy="164592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2296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Phát triển</a:t>
            </a:r>
            <a:endParaRPr lang="en-US" sz="3200"/>
          </a:p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mềm</a:t>
            </a:r>
            <a:endParaRPr lang="en-US" sz="320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9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Phase — Từ Requirement đến Deploy Dev &amp; Bàn giao QA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365760" y="3291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A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AIoT Inc  ·  Tài liệu nội bộ  ·  Version 1.1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6400800" y="1188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tượng</a:t>
            </a:r>
            <a:endParaRPr lang="en-US" sz="800"/>
          </a:p>
        </p:txBody>
      </p:sp>
      <p:sp>
        <p:nvSpPr>
          <p:cNvPr id="12" name="Text 10"/>
          <p:cNvSpPr/>
          <p:nvPr/>
        </p:nvSpPr>
        <p:spPr>
          <a:xfrm>
            <a:off x="6400800" y="13898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+ Tech Lead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6400800" y="18288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Phiên bản</a:t>
            </a:r>
            <a:endParaRPr lang="en-US" sz="800"/>
          </a:p>
        </p:txBody>
      </p:sp>
      <p:sp>
        <p:nvSpPr>
          <p:cNvPr id="14" name="Text 12"/>
          <p:cNvSpPr/>
          <p:nvPr/>
        </p:nvSpPr>
        <p:spPr>
          <a:xfrm>
            <a:off x="6400800" y="20299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6400800" y="24688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trang</a:t>
            </a:r>
            <a:endParaRPr lang="en-US" sz="800"/>
          </a:p>
        </p:txBody>
      </p:sp>
      <p:sp>
        <p:nvSpPr>
          <p:cNvPr id="16" name="Text 14"/>
          <p:cNvSpPr/>
          <p:nvPr/>
        </p:nvSpPr>
        <p:spPr>
          <a:xfrm>
            <a:off x="6400800" y="2670048"/>
            <a:ext cx="256032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~27 </a:t>
            </a:r>
            <a:r>
              <a:rPr lang="en-US" sz="11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trang</a:t>
            </a:r>
            <a:endParaRPr lang="en-US" sz="1100" err="1">
              <a:latin typeface="Calibri"/>
              <a:ea typeface="Calibri"/>
              <a:cs typeface="Calibr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00800" y="31089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Ngôn ngữ</a:t>
            </a:r>
            <a:endParaRPr lang="en-US" sz="800"/>
          </a:p>
        </p:txBody>
      </p:sp>
      <p:sp>
        <p:nvSpPr>
          <p:cNvPr id="18" name="Text 16"/>
          <p:cNvSpPr/>
          <p:nvPr/>
        </p:nvSpPr>
        <p:spPr>
          <a:xfrm>
            <a:off x="6400800" y="33101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Tiếng Việt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365760" y="4663440"/>
            <a:ext cx="164592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6634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Phase Document</a:t>
            </a:r>
            <a:endParaRPr lang="en-US" sz="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lục — Table of Contents</a:t>
            </a:r>
            <a:endParaRPr lang="en-US" sz="180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AIoT Inc  ·  Dev Process v1.1</a:t>
            </a:r>
            <a:endParaRPr lang="en-US" sz="90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069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54864" cy="8412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0058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493776" y="1280160"/>
            <a:ext cx="3867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thiệu &amp; Cách sử dụng tài liệu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493776" y="1572768"/>
            <a:ext cx="3867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trang</a:t>
            </a:r>
            <a:endParaRPr lang="en-US" sz="80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4069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920240"/>
            <a:ext cx="54864" cy="8412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20116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/>
          </a:p>
        </p:txBody>
      </p:sp>
      <p:sp>
        <p:nvSpPr>
          <p:cNvPr id="13" name="Shape 11"/>
          <p:cNvSpPr/>
          <p:nvPr/>
        </p:nvSpPr>
        <p:spPr>
          <a:xfrm>
            <a:off x="896112" y="2020824"/>
            <a:ext cx="402336" cy="182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2020824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Mới</a:t>
            </a:r>
            <a:endParaRPr lang="en-US" sz="700"/>
          </a:p>
        </p:txBody>
      </p:sp>
      <p:sp>
        <p:nvSpPr>
          <p:cNvPr id="15" name="Text 13"/>
          <p:cNvSpPr/>
          <p:nvPr/>
        </p:nvSpPr>
        <p:spPr>
          <a:xfrm>
            <a:off x="493776" y="2286000"/>
            <a:ext cx="3867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Flow — Tổng quan quy trình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493776" y="2578608"/>
            <a:ext cx="3867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trang</a:t>
            </a:r>
            <a:endParaRPr lang="en-US" sz="800"/>
          </a:p>
        </p:txBody>
      </p:sp>
      <p:sp>
        <p:nvSpPr>
          <p:cNvPr id="17" name="Shape 15"/>
          <p:cNvSpPr/>
          <p:nvPr/>
        </p:nvSpPr>
        <p:spPr>
          <a:xfrm>
            <a:off x="365760" y="2926080"/>
            <a:ext cx="4069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926080"/>
            <a:ext cx="54864" cy="8412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" y="301752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/>
          </a:p>
        </p:txBody>
      </p:sp>
      <p:sp>
        <p:nvSpPr>
          <p:cNvPr id="20" name="Text 18"/>
          <p:cNvSpPr/>
          <p:nvPr/>
        </p:nvSpPr>
        <p:spPr>
          <a:xfrm>
            <a:off x="493776" y="3291840"/>
            <a:ext cx="3867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Môi trường làm việc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493776" y="3584448"/>
            <a:ext cx="3867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trang</a:t>
            </a:r>
            <a:endParaRPr lang="en-US" sz="800"/>
          </a:p>
        </p:txBody>
      </p:sp>
      <p:sp>
        <p:nvSpPr>
          <p:cNvPr id="22" name="Shape 20"/>
          <p:cNvSpPr/>
          <p:nvPr/>
        </p:nvSpPr>
        <p:spPr>
          <a:xfrm>
            <a:off x="365760" y="3931920"/>
            <a:ext cx="4069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931920"/>
            <a:ext cx="54864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" y="402336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/>
          </a:p>
        </p:txBody>
      </p:sp>
      <p:sp>
        <p:nvSpPr>
          <p:cNvPr id="25" name="Text 23"/>
          <p:cNvSpPr/>
          <p:nvPr/>
        </p:nvSpPr>
        <p:spPr>
          <a:xfrm>
            <a:off x="493776" y="4297680"/>
            <a:ext cx="3867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Dev Phase — 6 bước chi tiết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493776" y="4590288"/>
            <a:ext cx="3867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 trang</a:t>
            </a:r>
            <a:endParaRPr lang="en-US" sz="800"/>
          </a:p>
        </p:txBody>
      </p:sp>
      <p:sp>
        <p:nvSpPr>
          <p:cNvPr id="27" name="Shape 25"/>
          <p:cNvSpPr/>
          <p:nvPr/>
        </p:nvSpPr>
        <p:spPr>
          <a:xfrm>
            <a:off x="4617720" y="914400"/>
            <a:ext cx="4069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17720" y="914400"/>
            <a:ext cx="54864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45736" y="100584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/>
          </a:p>
        </p:txBody>
      </p:sp>
      <p:sp>
        <p:nvSpPr>
          <p:cNvPr id="30" name="Text 28"/>
          <p:cNvSpPr/>
          <p:nvPr/>
        </p:nvSpPr>
        <p:spPr>
          <a:xfrm>
            <a:off x="4745736" y="1280160"/>
            <a:ext cx="3867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Convention &amp; Rules</a:t>
            </a:r>
            <a:endParaRPr lang="en-US" sz="1000"/>
          </a:p>
        </p:txBody>
      </p:sp>
      <p:sp>
        <p:nvSpPr>
          <p:cNvPr id="31" name="Text 29"/>
          <p:cNvSpPr/>
          <p:nvPr/>
        </p:nvSpPr>
        <p:spPr>
          <a:xfrm>
            <a:off x="4745736" y="1572768"/>
            <a:ext cx="3867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trang</a:t>
            </a:r>
            <a:endParaRPr lang="en-US" sz="800"/>
          </a:p>
        </p:txBody>
      </p:sp>
      <p:sp>
        <p:nvSpPr>
          <p:cNvPr id="32" name="Shape 30"/>
          <p:cNvSpPr/>
          <p:nvPr/>
        </p:nvSpPr>
        <p:spPr>
          <a:xfrm>
            <a:off x="4617720" y="1920240"/>
            <a:ext cx="4069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17720" y="1920240"/>
            <a:ext cx="54864" cy="8412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45736" y="20116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/>
          </a:p>
        </p:txBody>
      </p:sp>
      <p:sp>
        <p:nvSpPr>
          <p:cNvPr id="35" name="Text 33"/>
          <p:cNvSpPr/>
          <p:nvPr/>
        </p:nvSpPr>
        <p:spPr>
          <a:xfrm>
            <a:off x="4745736" y="2286000"/>
            <a:ext cx="3867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Tools — Cài đặt &amp; Sử dụng</a:t>
            </a:r>
            <a:endParaRPr lang="en-US" sz="1000"/>
          </a:p>
        </p:txBody>
      </p:sp>
      <p:sp>
        <p:nvSpPr>
          <p:cNvPr id="36" name="Text 34"/>
          <p:cNvSpPr/>
          <p:nvPr/>
        </p:nvSpPr>
        <p:spPr>
          <a:xfrm>
            <a:off x="4745736" y="2578608"/>
            <a:ext cx="3867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trang</a:t>
            </a:r>
            <a:endParaRPr lang="en-US" sz="800"/>
          </a:p>
        </p:txBody>
      </p:sp>
      <p:sp>
        <p:nvSpPr>
          <p:cNvPr id="37" name="Shape 35"/>
          <p:cNvSpPr/>
          <p:nvPr/>
        </p:nvSpPr>
        <p:spPr>
          <a:xfrm>
            <a:off x="4617720" y="2926080"/>
            <a:ext cx="4069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17720" y="2926080"/>
            <a:ext cx="54864" cy="8412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45736" y="301752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/>
          </a:p>
        </p:txBody>
      </p:sp>
      <p:sp>
        <p:nvSpPr>
          <p:cNvPr id="40" name="Shape 38"/>
          <p:cNvSpPr/>
          <p:nvPr/>
        </p:nvSpPr>
        <p:spPr>
          <a:xfrm>
            <a:off x="5148072" y="3026664"/>
            <a:ext cx="402336" cy="182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48072" y="3026664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Mới</a:t>
            </a:r>
            <a:endParaRPr lang="en-US" sz="700"/>
          </a:p>
        </p:txBody>
      </p:sp>
      <p:sp>
        <p:nvSpPr>
          <p:cNvPr id="42" name="Text 40"/>
          <p:cNvSpPr/>
          <p:nvPr/>
        </p:nvSpPr>
        <p:spPr>
          <a:xfrm>
            <a:off x="4745736" y="3291840"/>
            <a:ext cx="3867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Flow — Luồng xử lý nâng cao</a:t>
            </a:r>
            <a:endParaRPr lang="en-US" sz="1000"/>
          </a:p>
        </p:txBody>
      </p:sp>
      <p:sp>
        <p:nvSpPr>
          <p:cNvPr id="43" name="Text 41"/>
          <p:cNvSpPr/>
          <p:nvPr/>
        </p:nvSpPr>
        <p:spPr>
          <a:xfrm>
            <a:off x="4745736" y="3584448"/>
            <a:ext cx="3867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trang</a:t>
            </a:r>
            <a:endParaRPr lang="en-US" sz="800"/>
          </a:p>
        </p:txBody>
      </p:sp>
      <p:sp>
        <p:nvSpPr>
          <p:cNvPr id="44" name="Shape 42"/>
          <p:cNvSpPr/>
          <p:nvPr/>
        </p:nvSpPr>
        <p:spPr>
          <a:xfrm>
            <a:off x="4617720" y="3931920"/>
            <a:ext cx="4069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17720" y="3931920"/>
            <a:ext cx="54864" cy="8412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45736" y="402336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/>
          </a:p>
        </p:txBody>
      </p:sp>
      <p:sp>
        <p:nvSpPr>
          <p:cNvPr id="47" name="Text 45"/>
          <p:cNvSpPr/>
          <p:nvPr/>
        </p:nvSpPr>
        <p:spPr>
          <a:xfrm>
            <a:off x="4745736" y="4297680"/>
            <a:ext cx="3867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 lục — Templates &amp; Reference</a:t>
            </a:r>
            <a:endParaRPr lang="en-US" sz="1000"/>
          </a:p>
        </p:txBody>
      </p:sp>
      <p:sp>
        <p:nvSpPr>
          <p:cNvPr id="48" name="Text 46"/>
          <p:cNvSpPr/>
          <p:nvPr/>
        </p:nvSpPr>
        <p:spPr>
          <a:xfrm>
            <a:off x="4745736" y="4590288"/>
            <a:ext cx="3867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trang</a:t>
            </a:r>
            <a:endParaRPr lang="en-US" sz="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0" y="1828800"/>
            <a:ext cx="3291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0" b="1">
                <a:solidFill>
                  <a:srgbClr val="FFFFFF">
                    <a:alpha val="7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13000"/>
          </a:p>
        </p:txBody>
      </p:sp>
      <p:sp>
        <p:nvSpPr>
          <p:cNvPr id="3" name="Text 1"/>
          <p:cNvSpPr/>
          <p:nvPr/>
        </p:nvSpPr>
        <p:spPr>
          <a:xfrm>
            <a:off x="365760" y="14630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00</a:t>
            </a:r>
            <a:endParaRPr lang="en-US" sz="3400"/>
          </a:p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thiệu</a:t>
            </a:r>
            <a:endParaRPr lang="en-US" sz="3400"/>
          </a:p>
        </p:txBody>
      </p:sp>
      <p:sp>
        <p:nvSpPr>
          <p:cNvPr id="4" name="Text 2"/>
          <p:cNvSpPr/>
          <p:nvPr/>
        </p:nvSpPr>
        <p:spPr>
          <a:xfrm>
            <a:off x="365760" y="26060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A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đích · Phạm vi · Vai trò &amp; Trách nhiệm</a:t>
            </a:r>
            <a:endParaRPr lang="en-US" sz="1500"/>
          </a:p>
        </p:txBody>
      </p:sp>
      <p:sp>
        <p:nvSpPr>
          <p:cNvPr id="5" name="Shape 3"/>
          <p:cNvSpPr/>
          <p:nvPr/>
        </p:nvSpPr>
        <p:spPr>
          <a:xfrm>
            <a:off x="365760" y="4389120"/>
            <a:ext cx="146304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thiệu &amp; Phạm vi áp dụng</a:t>
            </a:r>
            <a:endParaRPr lang="en-US" sz="180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AIoT Inc  ·  Dev Process v1.1</a:t>
            </a:r>
            <a:endParaRPr lang="en-US" sz="90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68680"/>
            <a:ext cx="54864" cy="3931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9418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đích tài liệu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493776" y="1280160"/>
            <a:ext cx="37947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liệu này định nghĩa quy trình làm việc chuẩn cho team Developer — từ khi nhận Requirement đến khi bàn giao cho QA để test trên môi trường Dev.
</a:t>
            </a:r>
            <a:r>
              <a:rPr lang="en-US" sz="10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 tài liệu giải quyết:
</a:t>
            </a: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Code chất lượng không đồng đều giữa các dev
• Không có quy trình rõ ràng khi bàn giao QA
• Secret/credential bị commit lên Git
• Không biết dùng tool nào, khi nào
• Dev mới mất nhiều tuần để hiểu workflow
</a:t>
            </a:r>
            <a:r>
              <a:rPr lang="en-US" sz="10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phải tuân thủ: </a:t>
            </a: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Developer và Tech Lead của AIoT Inc.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4663440" y="9418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trò &amp; Trách nhiệm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4663440" y="1252728"/>
            <a:ext cx="987552" cy="45720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252728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4663440" y="148132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</a:t>
            </a:r>
            <a:endParaRPr lang="en-US" sz="650"/>
          </a:p>
        </p:txBody>
      </p:sp>
      <p:sp>
        <p:nvSpPr>
          <p:cNvPr id="13" name="Text 11"/>
          <p:cNvSpPr/>
          <p:nvPr/>
        </p:nvSpPr>
        <p:spPr>
          <a:xfrm>
            <a:off x="4663440" y="173736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trực tiếp thực hiện</a:t>
            </a:r>
            <a:endParaRPr lang="en-US" sz="750"/>
          </a:p>
        </p:txBody>
      </p:sp>
      <p:sp>
        <p:nvSpPr>
          <p:cNvPr id="14" name="Shape 12"/>
          <p:cNvSpPr/>
          <p:nvPr/>
        </p:nvSpPr>
        <p:spPr>
          <a:xfrm>
            <a:off x="5715000" y="1252728"/>
            <a:ext cx="987552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0" y="1252728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5715000" y="148132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</a:t>
            </a:r>
            <a:endParaRPr lang="en-US" sz="650"/>
          </a:p>
        </p:txBody>
      </p:sp>
      <p:sp>
        <p:nvSpPr>
          <p:cNvPr id="17" name="Text 15"/>
          <p:cNvSpPr/>
          <p:nvPr/>
        </p:nvSpPr>
        <p:spPr>
          <a:xfrm>
            <a:off x="5715000" y="173736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chịu trách nhiệm cuối cùng</a:t>
            </a:r>
            <a:endParaRPr lang="en-US" sz="750"/>
          </a:p>
        </p:txBody>
      </p:sp>
      <p:sp>
        <p:nvSpPr>
          <p:cNvPr id="18" name="Shape 16"/>
          <p:cNvSpPr/>
          <p:nvPr/>
        </p:nvSpPr>
        <p:spPr>
          <a:xfrm>
            <a:off x="6766560" y="1252728"/>
            <a:ext cx="987552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1252728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300"/>
          </a:p>
        </p:txBody>
      </p:sp>
      <p:sp>
        <p:nvSpPr>
          <p:cNvPr id="20" name="Text 18"/>
          <p:cNvSpPr/>
          <p:nvPr/>
        </p:nvSpPr>
        <p:spPr>
          <a:xfrm>
            <a:off x="6766560" y="148132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</a:t>
            </a:r>
            <a:endParaRPr lang="en-US" sz="650"/>
          </a:p>
        </p:txBody>
      </p:sp>
      <p:sp>
        <p:nvSpPr>
          <p:cNvPr id="21" name="Text 19"/>
          <p:cNvSpPr/>
          <p:nvPr/>
        </p:nvSpPr>
        <p:spPr>
          <a:xfrm>
            <a:off x="6766560" y="173736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được thông báo kết quả</a:t>
            </a:r>
            <a:endParaRPr lang="en-US" sz="750"/>
          </a:p>
        </p:txBody>
      </p:sp>
      <p:sp>
        <p:nvSpPr>
          <p:cNvPr id="22" name="Shape 20"/>
          <p:cNvSpPr/>
          <p:nvPr/>
        </p:nvSpPr>
        <p:spPr>
          <a:xfrm>
            <a:off x="7818120" y="1252728"/>
            <a:ext cx="987552" cy="457200"/>
          </a:xfrm>
          <a:prstGeom prst="rect">
            <a:avLst/>
          </a:prstGeom>
          <a:solidFill>
            <a:srgbClr val="F1EFE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18120" y="1252728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/>
          </a:p>
        </p:txBody>
      </p:sp>
      <p:sp>
        <p:nvSpPr>
          <p:cNvPr id="24" name="Text 22"/>
          <p:cNvSpPr/>
          <p:nvPr/>
        </p:nvSpPr>
        <p:spPr>
          <a:xfrm>
            <a:off x="7818120" y="148132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liên quan</a:t>
            </a:r>
            <a:endParaRPr lang="en-US" sz="650"/>
          </a:p>
        </p:txBody>
      </p:sp>
      <p:sp>
        <p:nvSpPr>
          <p:cNvPr id="25" name="Text 23"/>
          <p:cNvSpPr/>
          <p:nvPr/>
        </p:nvSpPr>
        <p:spPr>
          <a:xfrm>
            <a:off x="7818120" y="173736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tham gia nhiệm vụ này</a:t>
            </a:r>
            <a:endParaRPr lang="en-US" sz="75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2039112"/>
          <a:ext cx="3794760" cy="263347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33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Nhiệm vụ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3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Nhận &amp; clarify req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1C3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3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Tạo branch &amp; code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1C3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3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Viết unit test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1C3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3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Self-review code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1C3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33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PR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1C3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33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CI/CD &amp; tools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1C3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33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Dev env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R/A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33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Smoke test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1C3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33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Nhận bàn giao &amp; test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1C3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6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0" y="1828800"/>
            <a:ext cx="3291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0" b="1">
                <a:solidFill>
                  <a:srgbClr val="FFFFFF">
                    <a:alpha val="7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0"/>
          </a:p>
        </p:txBody>
      </p:sp>
      <p:sp>
        <p:nvSpPr>
          <p:cNvPr id="3" name="Text 1"/>
          <p:cNvSpPr/>
          <p:nvPr/>
        </p:nvSpPr>
        <p:spPr>
          <a:xfrm>
            <a:off x="365760" y="14630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01</a:t>
            </a:r>
            <a:endParaRPr lang="en-US" sz="3400"/>
          </a:p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Flow</a:t>
            </a:r>
            <a:endParaRPr lang="en-US" sz="3400"/>
          </a:p>
        </p:txBody>
      </p:sp>
      <p:sp>
        <p:nvSpPr>
          <p:cNvPr id="4" name="Text 2"/>
          <p:cNvSpPr/>
          <p:nvPr/>
        </p:nvSpPr>
        <p:spPr>
          <a:xfrm>
            <a:off x="365760" y="26060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A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quy trình trong 5 phút — ai làm gì, khi nào</a:t>
            </a:r>
            <a:endParaRPr lang="en-US" sz="1500"/>
          </a:p>
        </p:txBody>
      </p:sp>
      <p:sp>
        <p:nvSpPr>
          <p:cNvPr id="5" name="Shape 3"/>
          <p:cNvSpPr/>
          <p:nvPr/>
        </p:nvSpPr>
        <p:spPr>
          <a:xfrm>
            <a:off x="365760" y="4389120"/>
            <a:ext cx="146304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Flow — Tổng quan quy trình Dev Phase</a:t>
            </a:r>
            <a:endParaRPr lang="en-US" sz="180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AIoT Inc  ·  Dev Process v1.1</a:t>
            </a:r>
            <a:endParaRPr lang="en-US" sz="90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Flow — Tổng quan quy trình Dev Phase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5943600" y="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AIoT Inc  ·  Dev Process v1.1</a:t>
            </a:r>
            <a:endParaRPr lang="en-US" sz="900"/>
          </a:p>
        </p:txBody>
      </p:sp>
      <p:sp>
        <p:nvSpPr>
          <p:cNvPr id="8" name="Shape 6"/>
          <p:cNvSpPr/>
          <p:nvPr/>
        </p:nvSpPr>
        <p:spPr>
          <a:xfrm>
            <a:off x="256032" y="1188720"/>
            <a:ext cx="1261872" cy="10058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" y="124358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481328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1517904" y="1664208"/>
            <a:ext cx="164592" cy="54864"/>
          </a:xfrm>
          <a:prstGeom prst="rect">
            <a:avLst/>
          </a:prstGeom>
          <a:solidFill>
            <a:srgbClr val="B0C0D0"/>
          </a:solidFill>
          <a:ln w="12700">
            <a:solidFill>
              <a:srgbClr val="B0C0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46504" y="1188720"/>
            <a:ext cx="1261872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746504" y="124358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1746504" y="1481328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3008376" y="1664208"/>
            <a:ext cx="164592" cy="54864"/>
          </a:xfrm>
          <a:prstGeom prst="rect">
            <a:avLst/>
          </a:prstGeom>
          <a:solidFill>
            <a:srgbClr val="B0C0D0"/>
          </a:solidFill>
          <a:ln w="12700">
            <a:solidFill>
              <a:srgbClr val="B0C0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36976" y="1188720"/>
            <a:ext cx="1261872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36976" y="124358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3236976" y="1481328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&amp;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4498848" y="1664208"/>
            <a:ext cx="164592" cy="54864"/>
          </a:xfrm>
          <a:prstGeom prst="rect">
            <a:avLst/>
          </a:prstGeom>
          <a:solidFill>
            <a:srgbClr val="B0C0D0"/>
          </a:solidFill>
          <a:ln w="12700">
            <a:solidFill>
              <a:srgbClr val="B0C0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27448" y="1188720"/>
            <a:ext cx="1261872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27448" y="124358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4727448" y="1481328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5989320" y="1664208"/>
            <a:ext cx="164592" cy="54864"/>
          </a:xfrm>
          <a:prstGeom prst="rect">
            <a:avLst/>
          </a:prstGeom>
          <a:solidFill>
            <a:srgbClr val="B0C0D0"/>
          </a:solidFill>
          <a:ln w="12700">
            <a:solidFill>
              <a:srgbClr val="B0C0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1188720"/>
            <a:ext cx="1261872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17920" y="124358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6217920" y="1481328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&amp;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00"/>
          </a:p>
        </p:txBody>
      </p:sp>
      <p:sp>
        <p:nvSpPr>
          <p:cNvPr id="27" name="Shape 25"/>
          <p:cNvSpPr/>
          <p:nvPr/>
        </p:nvSpPr>
        <p:spPr>
          <a:xfrm>
            <a:off x="7479792" y="1664208"/>
            <a:ext cx="164592" cy="54864"/>
          </a:xfrm>
          <a:prstGeom prst="rect">
            <a:avLst/>
          </a:prstGeom>
          <a:solidFill>
            <a:srgbClr val="B0C0D0"/>
          </a:solidFill>
          <a:ln w="12700">
            <a:solidFill>
              <a:srgbClr val="B0C0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08392" y="1188720"/>
            <a:ext cx="1261872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708392" y="124358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/>
          </a:p>
        </p:txBody>
      </p:sp>
      <p:sp>
        <p:nvSpPr>
          <p:cNvPr id="30" name="Text 28"/>
          <p:cNvSpPr/>
          <p:nvPr/>
        </p:nvSpPr>
        <p:spPr>
          <a:xfrm>
            <a:off x="7708392" y="1481328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Bàn giao QA</a:t>
            </a:r>
            <a:endParaRPr lang="en-US" sz="1100"/>
          </a:p>
        </p:txBody>
      </p:sp>
      <p:sp>
        <p:nvSpPr>
          <p:cNvPr id="31" name="Text 29"/>
          <p:cNvSpPr/>
          <p:nvPr/>
        </p:nvSpPr>
        <p:spPr>
          <a:xfrm>
            <a:off x="365760" y="2450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Status Journey:</a:t>
            </a:r>
            <a:endParaRPr lang="en-US" sz="1000"/>
          </a:p>
        </p:txBody>
      </p:sp>
      <p:sp>
        <p:nvSpPr>
          <p:cNvPr id="32" name="Shape 30"/>
          <p:cNvSpPr/>
          <p:nvPr/>
        </p:nvSpPr>
        <p:spPr>
          <a:xfrm>
            <a:off x="365760" y="2761488"/>
            <a:ext cx="1463040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27614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To Do</a:t>
            </a:r>
            <a:endParaRPr lang="en-US" sz="900"/>
          </a:p>
        </p:txBody>
      </p:sp>
      <p:sp>
        <p:nvSpPr>
          <p:cNvPr id="34" name="Text 32"/>
          <p:cNvSpPr/>
          <p:nvPr/>
        </p:nvSpPr>
        <p:spPr>
          <a:xfrm>
            <a:off x="1865376" y="2761488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/>
          </a:p>
        </p:txBody>
      </p:sp>
      <p:sp>
        <p:nvSpPr>
          <p:cNvPr id="35" name="Shape 33"/>
          <p:cNvSpPr/>
          <p:nvPr/>
        </p:nvSpPr>
        <p:spPr>
          <a:xfrm>
            <a:off x="2057400" y="2761488"/>
            <a:ext cx="1463040" cy="2926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57400" y="27614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In Progress</a:t>
            </a:r>
            <a:endParaRPr lang="en-US" sz="900"/>
          </a:p>
        </p:txBody>
      </p:sp>
      <p:sp>
        <p:nvSpPr>
          <p:cNvPr id="37" name="Text 35"/>
          <p:cNvSpPr/>
          <p:nvPr/>
        </p:nvSpPr>
        <p:spPr>
          <a:xfrm>
            <a:off x="3557016" y="2761488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/>
          </a:p>
        </p:txBody>
      </p:sp>
      <p:sp>
        <p:nvSpPr>
          <p:cNvPr id="38" name="Shape 36"/>
          <p:cNvSpPr/>
          <p:nvPr/>
        </p:nvSpPr>
        <p:spPr>
          <a:xfrm>
            <a:off x="3749040" y="2761488"/>
            <a:ext cx="1463040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49040" y="27614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In Review</a:t>
            </a:r>
            <a:endParaRPr lang="en-US" sz="900"/>
          </a:p>
        </p:txBody>
      </p:sp>
      <p:sp>
        <p:nvSpPr>
          <p:cNvPr id="40" name="Text 38"/>
          <p:cNvSpPr/>
          <p:nvPr/>
        </p:nvSpPr>
        <p:spPr>
          <a:xfrm>
            <a:off x="5248656" y="2761488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/>
          </a:p>
        </p:txBody>
      </p:sp>
      <p:sp>
        <p:nvSpPr>
          <p:cNvPr id="41" name="Shape 39"/>
          <p:cNvSpPr/>
          <p:nvPr/>
        </p:nvSpPr>
        <p:spPr>
          <a:xfrm>
            <a:off x="5440680" y="2761488"/>
            <a:ext cx="146304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40680" y="27614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Ready for QA</a:t>
            </a:r>
            <a:endParaRPr lang="en-US" sz="900"/>
          </a:p>
        </p:txBody>
      </p:sp>
      <p:sp>
        <p:nvSpPr>
          <p:cNvPr id="43" name="Text 41"/>
          <p:cNvSpPr/>
          <p:nvPr/>
        </p:nvSpPr>
        <p:spPr>
          <a:xfrm>
            <a:off x="6940296" y="2761488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/>
          </a:p>
        </p:txBody>
      </p:sp>
      <p:sp>
        <p:nvSpPr>
          <p:cNvPr id="44" name="Shape 42"/>
          <p:cNvSpPr/>
          <p:nvPr/>
        </p:nvSpPr>
        <p:spPr>
          <a:xfrm>
            <a:off x="7132320" y="2761488"/>
            <a:ext cx="146304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32320" y="27614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Done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Flow — Ai làm gì &amp; Quy tắc vàng</a:t>
            </a:r>
            <a:endParaRPr lang="en-US" sz="180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AIoT Inc  ·  Dev Process v1.1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365760" y="8503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làm gì?</a:t>
            </a:r>
            <a:endParaRPr lang="en-US" sz="120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4069080" cy="192024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Giai đoạn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 Lead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Clarify req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C3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Chính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Hỗ trợ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Tạo branch &amp; code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C3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Chính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Giám sát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test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C3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Chính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Định chuẩn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Self-review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C3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Chính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PR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C3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Phụ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Chính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Cài tools/hooks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C3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Dùng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&amp; config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Smoke test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C3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Chính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Xác nhận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Bàn giao QA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C3A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Chính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Theo dõi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663440" y="85039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Quy tắc vàng — cần nhớ nhất</a:t>
            </a:r>
            <a:endParaRPr lang="en-US" sz="1200"/>
          </a:p>
        </p:txBody>
      </p:sp>
      <p:sp>
        <p:nvSpPr>
          <p:cNvPr id="6" name="Shape 5"/>
          <p:cNvSpPr/>
          <p:nvPr/>
        </p:nvSpPr>
        <p:spPr>
          <a:xfrm>
            <a:off x="4663440" y="1143000"/>
            <a:ext cx="4160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63440" y="1143000"/>
            <a:ext cx="4572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36592" y="11430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</a:t>
            </a:r>
            <a:endParaRPr lang="en-US" sz="1300"/>
          </a:p>
        </p:txBody>
      </p:sp>
      <p:sp>
        <p:nvSpPr>
          <p:cNvPr id="11" name="Text 8"/>
          <p:cNvSpPr/>
          <p:nvPr/>
        </p:nvSpPr>
        <p:spPr>
          <a:xfrm>
            <a:off x="5084064" y="1143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code khi requirement còn mơ hồ — clarify trước</a:t>
            </a:r>
            <a:endParaRPr lang="en-US" sz="950"/>
          </a:p>
        </p:txBody>
      </p:sp>
      <p:sp>
        <p:nvSpPr>
          <p:cNvPr id="12" name="Shape 9"/>
          <p:cNvSpPr/>
          <p:nvPr/>
        </p:nvSpPr>
        <p:spPr>
          <a:xfrm>
            <a:off x="4663440" y="1673352"/>
            <a:ext cx="4160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63440" y="1673352"/>
            <a:ext cx="4572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36592" y="167335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300"/>
          </a:p>
        </p:txBody>
      </p:sp>
      <p:sp>
        <p:nvSpPr>
          <p:cNvPr id="15" name="Text 12"/>
          <p:cNvSpPr/>
          <p:nvPr/>
        </p:nvSpPr>
        <p:spPr>
          <a:xfrm>
            <a:off x="5084064" y="16733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bao giờ commit secret/credential/API key lên Git</a:t>
            </a:r>
            <a:endParaRPr lang="en-US" sz="950"/>
          </a:p>
        </p:txBody>
      </p:sp>
      <p:sp>
        <p:nvSpPr>
          <p:cNvPr id="16" name="Shape 13"/>
          <p:cNvSpPr/>
          <p:nvPr/>
        </p:nvSpPr>
        <p:spPr>
          <a:xfrm>
            <a:off x="4663440" y="2203704"/>
            <a:ext cx="4160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63440" y="2203704"/>
            <a:ext cx="4572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36592" y="220370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/>
          </a:p>
        </p:txBody>
      </p:sp>
      <p:sp>
        <p:nvSpPr>
          <p:cNvPr id="19" name="Text 16"/>
          <p:cNvSpPr/>
          <p:nvPr/>
        </p:nvSpPr>
        <p:spPr>
          <a:xfrm>
            <a:off x="5084064" y="220370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tạo PR khi chưa tự review — reviewer không dọn rác</a:t>
            </a:r>
            <a:endParaRPr lang="en-US" sz="950"/>
          </a:p>
        </p:txBody>
      </p:sp>
      <p:sp>
        <p:nvSpPr>
          <p:cNvPr id="20" name="Shape 17"/>
          <p:cNvSpPr/>
          <p:nvPr/>
        </p:nvSpPr>
        <p:spPr>
          <a:xfrm>
            <a:off x="4663440" y="2734056"/>
            <a:ext cx="4160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63440" y="2734056"/>
            <a:ext cx="4572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36592" y="273405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</a:t>
            </a:r>
            <a:endParaRPr lang="en-US" sz="1300"/>
          </a:p>
        </p:txBody>
      </p:sp>
      <p:sp>
        <p:nvSpPr>
          <p:cNvPr id="23" name="Text 20"/>
          <p:cNvSpPr/>
          <p:nvPr/>
        </p:nvSpPr>
        <p:spPr>
          <a:xfrm>
            <a:off x="5084064" y="273405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merge khi test fail hoặc CI chưa pass</a:t>
            </a:r>
            <a:endParaRPr lang="en-US" sz="950"/>
          </a:p>
        </p:txBody>
      </p:sp>
      <p:sp>
        <p:nvSpPr>
          <p:cNvPr id="24" name="Shape 21"/>
          <p:cNvSpPr/>
          <p:nvPr/>
        </p:nvSpPr>
        <p:spPr>
          <a:xfrm>
            <a:off x="4663440" y="3264408"/>
            <a:ext cx="4160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663440" y="3264408"/>
            <a:ext cx="4572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36592" y="326440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300"/>
          </a:p>
        </p:txBody>
      </p:sp>
      <p:sp>
        <p:nvSpPr>
          <p:cNvPr id="27" name="Text 24"/>
          <p:cNvSpPr/>
          <p:nvPr/>
        </p:nvSpPr>
        <p:spPr>
          <a:xfrm>
            <a:off x="5084064" y="32644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move 'Ready for QA' khi chưa smoke test trên dev env</a:t>
            </a:r>
            <a:endParaRPr lang="en-US" sz="950"/>
          </a:p>
        </p:txBody>
      </p:sp>
      <p:sp>
        <p:nvSpPr>
          <p:cNvPr id="28" name="Shape 25"/>
          <p:cNvSpPr/>
          <p:nvPr/>
        </p:nvSpPr>
        <p:spPr>
          <a:xfrm>
            <a:off x="4663440" y="3794760"/>
            <a:ext cx="4160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663440" y="3794760"/>
            <a:ext cx="4572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36592" y="37947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</a:t>
            </a:r>
            <a:endParaRPr lang="en-US" sz="1300"/>
          </a:p>
        </p:txBody>
      </p:sp>
      <p:sp>
        <p:nvSpPr>
          <p:cNvPr id="31" name="Text 28"/>
          <p:cNvSpPr/>
          <p:nvPr/>
        </p:nvSpPr>
        <p:spPr>
          <a:xfrm>
            <a:off x="5084064" y="3794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ticket = 1 branch — không gộp nhiều feature</a:t>
            </a:r>
            <a:endParaRPr lang="en-US" sz="950"/>
          </a:p>
        </p:txBody>
      </p:sp>
      <p:sp>
        <p:nvSpPr>
          <p:cNvPr id="32" name="Shape 29"/>
          <p:cNvSpPr/>
          <p:nvPr/>
        </p:nvSpPr>
        <p:spPr>
          <a:xfrm>
            <a:off x="4663440" y="4325112"/>
            <a:ext cx="4160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663440" y="4325112"/>
            <a:ext cx="4572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36592" y="432511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300"/>
          </a:p>
        </p:txBody>
      </p:sp>
      <p:sp>
        <p:nvSpPr>
          <p:cNvPr id="35" name="Text 32"/>
          <p:cNvSpPr/>
          <p:nvPr/>
        </p:nvSpPr>
        <p:spPr>
          <a:xfrm>
            <a:off x="5084064" y="43251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&gt; 3 ngày chưa xong: báo lead ngay, không im lặng</a:t>
            </a:r>
            <a:endParaRPr lang="en-US" sz="9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84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0" y="1828800"/>
            <a:ext cx="3291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0" b="1">
                <a:solidFill>
                  <a:srgbClr val="FFFFFF">
                    <a:alpha val="7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0"/>
          </a:p>
        </p:txBody>
      </p:sp>
      <p:sp>
        <p:nvSpPr>
          <p:cNvPr id="3" name="Text 1"/>
          <p:cNvSpPr/>
          <p:nvPr/>
        </p:nvSpPr>
        <p:spPr>
          <a:xfrm>
            <a:off x="365760" y="14630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02</a:t>
            </a:r>
            <a:endParaRPr lang="en-US" sz="3400"/>
          </a:p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Môi trường làm việc</a:t>
            </a:r>
            <a:endParaRPr lang="en-US" sz="3400"/>
          </a:p>
        </p:txBody>
      </p:sp>
      <p:sp>
        <p:nvSpPr>
          <p:cNvPr id="4" name="Text 2"/>
          <p:cNvSpPr/>
          <p:nvPr/>
        </p:nvSpPr>
        <p:spPr>
          <a:xfrm>
            <a:off x="365760" y="26060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A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· Dev Server · Staging · Production</a:t>
            </a:r>
            <a:endParaRPr lang="en-US" sz="1500"/>
          </a:p>
        </p:txBody>
      </p:sp>
      <p:sp>
        <p:nvSpPr>
          <p:cNvPr id="5" name="Shape 3"/>
          <p:cNvSpPr/>
          <p:nvPr/>
        </p:nvSpPr>
        <p:spPr>
          <a:xfrm>
            <a:off x="365760" y="4389120"/>
            <a:ext cx="146304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Môi trường làm việc — 4 môi trường tách biệt</a:t>
            </a:r>
            <a:endParaRPr lang="en-US" sz="180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AIoT Inc  ·  Dev Process v1.1</a:t>
            </a:r>
            <a:endParaRPr lang="en-US" sz="90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1965960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19659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dùng</a:t>
            </a:r>
            <a:endParaRPr lang="en-US" sz="850"/>
          </a:p>
        </p:txBody>
      </p:sp>
      <p:sp>
        <p:nvSpPr>
          <p:cNvPr id="9" name="Text 7"/>
          <p:cNvSpPr/>
          <p:nvPr/>
        </p:nvSpPr>
        <p:spPr>
          <a:xfrm>
            <a:off x="457200" y="158191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cá nhân</a:t>
            </a:r>
            <a:endParaRPr lang="en-US" sz="900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từ</a:t>
            </a:r>
            <a:endParaRPr lang="en-US" sz="850"/>
          </a:p>
        </p:txBody>
      </p:sp>
      <p:sp>
        <p:nvSpPr>
          <p:cNvPr id="11" name="Text 9"/>
          <p:cNvSpPr/>
          <p:nvPr/>
        </p:nvSpPr>
        <p:spPr>
          <a:xfrm>
            <a:off x="457200" y="24048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Thủ công từ branch riêng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457200" y="301752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/>
          </a:p>
        </p:txBody>
      </p:sp>
      <p:sp>
        <p:nvSpPr>
          <p:cNvPr id="13" name="Text 11"/>
          <p:cNvSpPr/>
          <p:nvPr/>
        </p:nvSpPr>
        <p:spPr>
          <a:xfrm>
            <a:off x="457200" y="322783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/ Mock data</a:t>
            </a:r>
            <a:endParaRPr lang="en-US" sz="900"/>
          </a:p>
        </p:txBody>
      </p:sp>
      <p:sp>
        <p:nvSpPr>
          <p:cNvPr id="14" name="Text 12"/>
          <p:cNvSpPr/>
          <p:nvPr/>
        </p:nvSpPr>
        <p:spPr>
          <a:xfrm>
            <a:off x="457200" y="38404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đích</a:t>
            </a:r>
            <a:endParaRPr lang="en-US" sz="850"/>
          </a:p>
        </p:txBody>
      </p:sp>
      <p:sp>
        <p:nvSpPr>
          <p:cNvPr id="15" name="Text 13"/>
          <p:cNvSpPr/>
          <p:nvPr/>
        </p:nvSpPr>
        <p:spPr>
          <a:xfrm>
            <a:off x="457200" y="405079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&amp; test nhanh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ảnh hưởng người khác</a:t>
            </a:r>
            <a:endParaRPr lang="en-US" sz="900"/>
          </a:p>
        </p:txBody>
      </p:sp>
      <p:sp>
        <p:nvSpPr>
          <p:cNvPr id="16" name="Shape 14"/>
          <p:cNvSpPr/>
          <p:nvPr/>
        </p:nvSpPr>
        <p:spPr>
          <a:xfrm>
            <a:off x="2496312" y="868680"/>
            <a:ext cx="1965960" cy="411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96312" y="8686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400"/>
          </a:p>
        </p:txBody>
      </p:sp>
      <p:sp>
        <p:nvSpPr>
          <p:cNvPr id="18" name="Shape 16"/>
          <p:cNvSpPr/>
          <p:nvPr/>
        </p:nvSpPr>
        <p:spPr>
          <a:xfrm>
            <a:off x="2496312" y="1280160"/>
            <a:ext cx="19659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87752" y="137160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dùng</a:t>
            </a:r>
            <a:endParaRPr lang="en-US" sz="850"/>
          </a:p>
        </p:txBody>
      </p:sp>
      <p:sp>
        <p:nvSpPr>
          <p:cNvPr id="20" name="Text 18"/>
          <p:cNvSpPr/>
          <p:nvPr/>
        </p:nvSpPr>
        <p:spPr>
          <a:xfrm>
            <a:off x="2587752" y="158191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+ QA</a:t>
            </a:r>
            <a:endParaRPr lang="en-US" sz="900"/>
          </a:p>
        </p:txBody>
      </p:sp>
      <p:sp>
        <p:nvSpPr>
          <p:cNvPr id="21" name="Text 19"/>
          <p:cNvSpPr/>
          <p:nvPr/>
        </p:nvSpPr>
        <p:spPr>
          <a:xfrm>
            <a:off x="2587752" y="219456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từ</a:t>
            </a:r>
            <a:endParaRPr lang="en-US" sz="850"/>
          </a:p>
        </p:txBody>
      </p:sp>
      <p:sp>
        <p:nvSpPr>
          <p:cNvPr id="22" name="Text 20"/>
          <p:cNvSpPr/>
          <p:nvPr/>
        </p:nvSpPr>
        <p:spPr>
          <a:xfrm>
            <a:off x="2587752" y="24048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— merge develop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2587752" y="301752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/>
          </a:p>
        </p:txBody>
      </p:sp>
      <p:sp>
        <p:nvSpPr>
          <p:cNvPr id="24" name="Text 22"/>
          <p:cNvSpPr/>
          <p:nvPr/>
        </p:nvSpPr>
        <p:spPr>
          <a:xfrm>
            <a:off x="2587752" y="322783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/ Anonymized</a:t>
            </a:r>
            <a:endParaRPr lang="en-US" sz="900"/>
          </a:p>
        </p:txBody>
      </p:sp>
      <p:sp>
        <p:nvSpPr>
          <p:cNvPr id="25" name="Text 23"/>
          <p:cNvSpPr/>
          <p:nvPr/>
        </p:nvSpPr>
        <p:spPr>
          <a:xfrm>
            <a:off x="2587752" y="38404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đích</a:t>
            </a:r>
            <a:endParaRPr lang="en-US" sz="850"/>
          </a:p>
        </p:txBody>
      </p:sp>
      <p:sp>
        <p:nvSpPr>
          <p:cNvPr id="26" name="Text 24"/>
          <p:cNvSpPr/>
          <p:nvPr/>
        </p:nvSpPr>
        <p:spPr>
          <a:xfrm>
            <a:off x="2587752" y="405079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test tính năng mới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deploy qua CI/CD</a:t>
            </a:r>
            <a:endParaRPr lang="en-US" sz="900"/>
          </a:p>
        </p:txBody>
      </p:sp>
      <p:sp>
        <p:nvSpPr>
          <p:cNvPr id="27" name="Shape 25"/>
          <p:cNvSpPr/>
          <p:nvPr/>
        </p:nvSpPr>
        <p:spPr>
          <a:xfrm>
            <a:off x="4626864" y="868680"/>
            <a:ext cx="196596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26864" y="8686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400"/>
          </a:p>
        </p:txBody>
      </p:sp>
      <p:sp>
        <p:nvSpPr>
          <p:cNvPr id="29" name="Shape 27"/>
          <p:cNvSpPr/>
          <p:nvPr/>
        </p:nvSpPr>
        <p:spPr>
          <a:xfrm>
            <a:off x="4626864" y="1280160"/>
            <a:ext cx="19659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18304" y="137160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dùng</a:t>
            </a:r>
            <a:endParaRPr lang="en-US" sz="850"/>
          </a:p>
        </p:txBody>
      </p:sp>
      <p:sp>
        <p:nvSpPr>
          <p:cNvPr id="31" name="Text 29"/>
          <p:cNvSpPr/>
          <p:nvPr/>
        </p:nvSpPr>
        <p:spPr>
          <a:xfrm>
            <a:off x="4718304" y="158191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+ PM + Client</a:t>
            </a:r>
            <a:endParaRPr lang="en-US" sz="900"/>
          </a:p>
        </p:txBody>
      </p:sp>
      <p:sp>
        <p:nvSpPr>
          <p:cNvPr id="32" name="Text 30"/>
          <p:cNvSpPr/>
          <p:nvPr/>
        </p:nvSpPr>
        <p:spPr>
          <a:xfrm>
            <a:off x="4718304" y="219456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từ</a:t>
            </a:r>
            <a:endParaRPr lang="en-US" sz="850"/>
          </a:p>
        </p:txBody>
      </p:sp>
      <p:sp>
        <p:nvSpPr>
          <p:cNvPr id="33" name="Text 31"/>
          <p:cNvSpPr/>
          <p:nvPr/>
        </p:nvSpPr>
        <p:spPr>
          <a:xfrm>
            <a:off x="4718304" y="24048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— merge release</a:t>
            </a:r>
            <a:endParaRPr lang="en-US" sz="900"/>
          </a:p>
        </p:txBody>
      </p:sp>
      <p:sp>
        <p:nvSpPr>
          <p:cNvPr id="34" name="Text 32"/>
          <p:cNvSpPr/>
          <p:nvPr/>
        </p:nvSpPr>
        <p:spPr>
          <a:xfrm>
            <a:off x="4718304" y="301752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/>
          </a:p>
        </p:txBody>
      </p:sp>
      <p:sp>
        <p:nvSpPr>
          <p:cNvPr id="35" name="Text 33"/>
          <p:cNvSpPr/>
          <p:nvPr/>
        </p:nvSpPr>
        <p:spPr>
          <a:xfrm>
            <a:off x="4718304" y="322783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Gần giống prod</a:t>
            </a:r>
            <a:endParaRPr lang="en-US" sz="900"/>
          </a:p>
        </p:txBody>
      </p:sp>
      <p:sp>
        <p:nvSpPr>
          <p:cNvPr id="36" name="Text 34"/>
          <p:cNvSpPr/>
          <p:nvPr/>
        </p:nvSpPr>
        <p:spPr>
          <a:xfrm>
            <a:off x="4718304" y="38404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đích</a:t>
            </a:r>
            <a:endParaRPr lang="en-US" sz="850"/>
          </a:p>
        </p:txBody>
      </p:sp>
      <p:sp>
        <p:nvSpPr>
          <p:cNvPr id="37" name="Text 35"/>
          <p:cNvSpPr/>
          <p:nvPr/>
        </p:nvSpPr>
        <p:spPr>
          <a:xfrm>
            <a:off x="4718304" y="405079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UAT, demo client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lần cuối trước prod</a:t>
            </a:r>
            <a:endParaRPr lang="en-US" sz="900"/>
          </a:p>
        </p:txBody>
      </p:sp>
      <p:sp>
        <p:nvSpPr>
          <p:cNvPr id="38" name="Shape 36"/>
          <p:cNvSpPr/>
          <p:nvPr/>
        </p:nvSpPr>
        <p:spPr>
          <a:xfrm>
            <a:off x="6757416" y="868680"/>
            <a:ext cx="196596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57416" y="8686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400"/>
          </a:p>
        </p:txBody>
      </p:sp>
      <p:sp>
        <p:nvSpPr>
          <p:cNvPr id="40" name="Shape 38"/>
          <p:cNvSpPr/>
          <p:nvPr/>
        </p:nvSpPr>
        <p:spPr>
          <a:xfrm>
            <a:off x="6757416" y="1280160"/>
            <a:ext cx="19659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48856" y="137160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dùng</a:t>
            </a:r>
            <a:endParaRPr lang="en-US" sz="850"/>
          </a:p>
        </p:txBody>
      </p:sp>
      <p:sp>
        <p:nvSpPr>
          <p:cNvPr id="42" name="Text 40"/>
          <p:cNvSpPr/>
          <p:nvPr/>
        </p:nvSpPr>
        <p:spPr>
          <a:xfrm>
            <a:off x="6848856" y="158191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users</a:t>
            </a:r>
            <a:endParaRPr lang="en-US" sz="900"/>
          </a:p>
        </p:txBody>
      </p:sp>
      <p:sp>
        <p:nvSpPr>
          <p:cNvPr id="43" name="Text 41"/>
          <p:cNvSpPr/>
          <p:nvPr/>
        </p:nvSpPr>
        <p:spPr>
          <a:xfrm>
            <a:off x="6848856" y="219456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từ</a:t>
            </a:r>
            <a:endParaRPr lang="en-US" sz="850"/>
          </a:p>
        </p:txBody>
      </p:sp>
      <p:sp>
        <p:nvSpPr>
          <p:cNvPr id="44" name="Text 42"/>
          <p:cNvSpPr/>
          <p:nvPr/>
        </p:nvSpPr>
        <p:spPr>
          <a:xfrm>
            <a:off x="6848856" y="24048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+ Approval</a:t>
            </a:r>
            <a:endParaRPr lang="en-US" sz="900"/>
          </a:p>
        </p:txBody>
      </p:sp>
      <p:sp>
        <p:nvSpPr>
          <p:cNvPr id="45" name="Text 43"/>
          <p:cNvSpPr/>
          <p:nvPr/>
        </p:nvSpPr>
        <p:spPr>
          <a:xfrm>
            <a:off x="6848856" y="301752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/>
          </a:p>
        </p:txBody>
      </p:sp>
      <p:sp>
        <p:nvSpPr>
          <p:cNvPr id="46" name="Text 44"/>
          <p:cNvSpPr/>
          <p:nvPr/>
        </p:nvSpPr>
        <p:spPr>
          <a:xfrm>
            <a:off x="6848856" y="322783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data thật</a:t>
            </a:r>
            <a:endParaRPr lang="en-US" sz="900"/>
          </a:p>
        </p:txBody>
      </p:sp>
      <p:sp>
        <p:nvSpPr>
          <p:cNvPr id="47" name="Text 45"/>
          <p:cNvSpPr/>
          <p:nvPr/>
        </p:nvSpPr>
        <p:spPr>
          <a:xfrm>
            <a:off x="6848856" y="38404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đích</a:t>
            </a:r>
            <a:endParaRPr lang="en-US" sz="850"/>
          </a:p>
        </p:txBody>
      </p:sp>
      <p:sp>
        <p:nvSpPr>
          <p:cNvPr id="48" name="Text 46"/>
          <p:cNvSpPr/>
          <p:nvPr/>
        </p:nvSpPr>
        <p:spPr>
          <a:xfrm>
            <a:off x="6848856" y="405079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thật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 động đến người dùng thật</a:t>
            </a:r>
            <a:endParaRPr lang="en-US" sz="900"/>
          </a:p>
        </p:txBody>
      </p:sp>
      <p:sp>
        <p:nvSpPr>
          <p:cNvPr id="49" name="Shape 47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Không dùng Production data trên local hay dev  ·  Không share database giữa các môi trường  ·  Không sửa thẳng server — chỉ deploy qua CI/CD</a:t>
            </a:r>
            <a:endParaRPr lang="en-US" sz="8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Môi trường Local — Dựng máy cá nhân (Onboarding)</a:t>
            </a:r>
            <a:endParaRPr lang="en-US" sz="180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AIoT Inc  ·  Dev Process v1.1</a:t>
            </a:r>
            <a:endParaRPr lang="en-US" sz="900"/>
          </a:p>
        </p:txBody>
      </p:sp>
      <p:sp>
        <p:nvSpPr>
          <p:cNvPr id="5" name="Shape 3"/>
          <p:cNvSpPr/>
          <p:nvPr/>
        </p:nvSpPr>
        <p:spPr>
          <a:xfrm>
            <a:off x="365760" y="850392"/>
            <a:ext cx="40690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50392"/>
            <a:ext cx="54864" cy="3977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94183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dựng môi trường lần đầu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493776" y="1234440"/>
            <a:ext cx="3867912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Docker Desktop + Node.js (đúng version trong .nvmrc)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repo: git clone &lt;url&gt;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.env.example → .env, điền giá trị local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Chạy: npm install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Chạy: docker compose up -d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migration: npm run db:migrate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data: npm run db:seed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localhost:3000 — verify app chạy được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npm test — toàn bộ pass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extension IDE: ESLint, Prettier, SonarLint</a:t>
            </a:r>
            <a:endParaRPr lang="en-US" sz="950"/>
          </a:p>
        </p:txBody>
      </p:sp>
      <p:sp>
        <p:nvSpPr>
          <p:cNvPr id="9" name="Shape 7"/>
          <p:cNvSpPr/>
          <p:nvPr/>
        </p:nvSpPr>
        <p:spPr>
          <a:xfrm>
            <a:off x="4617720" y="850392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50392"/>
            <a:ext cx="54864" cy="18745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45736" y="94183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bắt buộc trong repo (Lead phụ trách)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4745736" y="1234440"/>
            <a:ext cx="3959352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.env.example — template env, commit vào repo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.nvmrc — version Node.js cố định cho cả team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docker-compose.yml — local stack đồng nhất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— hướng dẫn setup từng bước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Makefile — shortcut: make dev, make test, make reset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— bao gồm .env, node_modules, build/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4617720" y="2798064"/>
            <a:ext cx="416052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2798064"/>
            <a:ext cx="54864" cy="20299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45736" y="288950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ý quan trọng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4745736" y="3182112"/>
            <a:ext cx="395935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khi pull develop: chạy npm install + npm run db:migrate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commit file .env thật vào repo bất kỳ lý do gì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team trước khi thực hiện DB migration có breaking change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Makefile shortcuts thay vì nhớ lệnh dài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app chạy được trước khi bắt đầu code bất kỳ task nào</a:t>
            </a:r>
            <a:endParaRPr lang="en-US" sz="9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6E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0" y="1828800"/>
            <a:ext cx="3291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0" b="1">
                <a:solidFill>
                  <a:srgbClr val="FFFFFF">
                    <a:alpha val="7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0"/>
          </a:p>
        </p:txBody>
      </p:sp>
      <p:sp>
        <p:nvSpPr>
          <p:cNvPr id="3" name="Text 1"/>
          <p:cNvSpPr/>
          <p:nvPr/>
        </p:nvSpPr>
        <p:spPr>
          <a:xfrm>
            <a:off x="365760" y="14630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03</a:t>
            </a:r>
            <a:endParaRPr lang="en-US" sz="3400"/>
          </a:p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Phase — 6 bước</a:t>
            </a:r>
            <a:endParaRPr lang="en-US" sz="3400"/>
          </a:p>
        </p:txBody>
      </p:sp>
      <p:sp>
        <p:nvSpPr>
          <p:cNvPr id="4" name="Text 2"/>
          <p:cNvSpPr/>
          <p:nvPr/>
        </p:nvSpPr>
        <p:spPr>
          <a:xfrm>
            <a:off x="365760" y="26060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A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chi tiết từng bước · Checklist · Rule · Input/Output</a:t>
            </a:r>
            <a:endParaRPr lang="en-US" sz="1500"/>
          </a:p>
        </p:txBody>
      </p:sp>
      <p:sp>
        <p:nvSpPr>
          <p:cNvPr id="5" name="Shape 3"/>
          <p:cNvSpPr/>
          <p:nvPr/>
        </p:nvSpPr>
        <p:spPr>
          <a:xfrm>
            <a:off x="365760" y="4389120"/>
            <a:ext cx="146304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Phase — Tổng quan 6 bước</a:t>
            </a:r>
            <a:endParaRPr lang="en-US" sz="180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AIoT Inc  ·  Dev Process v1.1</a:t>
            </a:r>
            <a:endParaRPr lang="en-US" sz="900"/>
          </a:p>
        </p:txBody>
      </p:sp>
      <p:sp>
        <p:nvSpPr>
          <p:cNvPr id="5" name="Shape 3"/>
          <p:cNvSpPr/>
          <p:nvPr/>
        </p:nvSpPr>
        <p:spPr>
          <a:xfrm>
            <a:off x="365760" y="850392"/>
            <a:ext cx="274320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50392"/>
            <a:ext cx="2743200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85039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685800" y="85039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&amp; hiểu Requirement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457200" y="12344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Dev + PM</a:t>
            </a:r>
            <a:endParaRPr lang="en-US" sz="85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To Do → In Progress</a:t>
            </a:r>
            <a:endParaRPr lang="en-US" sz="800"/>
          </a:p>
        </p:txBody>
      </p:sp>
      <p:sp>
        <p:nvSpPr>
          <p:cNvPr id="11" name="Text 9"/>
          <p:cNvSpPr/>
          <p:nvPr/>
        </p:nvSpPr>
        <p:spPr>
          <a:xfrm>
            <a:off x="457200" y="164592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Đọc kỹ, list điểm chưa rõ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457200" y="198424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Clarify với PM/BA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457200" y="2322576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Estimate và ghi vào ticket</a:t>
            </a:r>
            <a:endParaRPr lang="en-US" sz="900"/>
          </a:p>
        </p:txBody>
      </p:sp>
      <p:sp>
        <p:nvSpPr>
          <p:cNvPr id="14" name="Shape 12"/>
          <p:cNvSpPr/>
          <p:nvPr/>
        </p:nvSpPr>
        <p:spPr>
          <a:xfrm>
            <a:off x="3264408" y="850392"/>
            <a:ext cx="274320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64408" y="850392"/>
            <a:ext cx="2743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85039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3584448" y="85039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Branch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3355848" y="12344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Dev</a:t>
            </a:r>
            <a:endParaRPr lang="en-US" sz="850"/>
          </a:p>
        </p:txBody>
      </p:sp>
      <p:sp>
        <p:nvSpPr>
          <p:cNvPr id="19" name="Text 17"/>
          <p:cNvSpPr/>
          <p:nvPr/>
        </p:nvSpPr>
        <p:spPr>
          <a:xfrm>
            <a:off x="3355848" y="14173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In Progress</a:t>
            </a:r>
            <a:endParaRPr lang="en-US" sz="800"/>
          </a:p>
        </p:txBody>
      </p:sp>
      <p:sp>
        <p:nvSpPr>
          <p:cNvPr id="20" name="Text 18"/>
          <p:cNvSpPr/>
          <p:nvPr/>
        </p:nvSpPr>
        <p:spPr>
          <a:xfrm>
            <a:off x="3355848" y="164592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Pull latest develop</a:t>
            </a:r>
            <a:endParaRPr lang="en-US" sz="900"/>
          </a:p>
        </p:txBody>
      </p:sp>
      <p:sp>
        <p:nvSpPr>
          <p:cNvPr id="21" name="Text 19"/>
          <p:cNvSpPr/>
          <p:nvPr/>
        </p:nvSpPr>
        <p:spPr>
          <a:xfrm>
            <a:off x="3355848" y="198424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Tạo: feature/TICKET-desc</a:t>
            </a:r>
            <a:endParaRPr lang="en-US" sz="900"/>
          </a:p>
        </p:txBody>
      </p:sp>
      <p:sp>
        <p:nvSpPr>
          <p:cNvPr id="22" name="Text 20"/>
          <p:cNvSpPr/>
          <p:nvPr/>
        </p:nvSpPr>
        <p:spPr>
          <a:xfrm>
            <a:off x="3355848" y="2322576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Verify app chạy local</a:t>
            </a:r>
            <a:endParaRPr lang="en-US" sz="900"/>
          </a:p>
        </p:txBody>
      </p:sp>
      <p:sp>
        <p:nvSpPr>
          <p:cNvPr id="23" name="Shape 21"/>
          <p:cNvSpPr/>
          <p:nvPr/>
        </p:nvSpPr>
        <p:spPr>
          <a:xfrm>
            <a:off x="6163056" y="850392"/>
            <a:ext cx="274320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63056" y="850392"/>
            <a:ext cx="274320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36208" y="85039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6483096" y="85039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triển &amp; Commit</a:t>
            </a:r>
            <a:endParaRPr lang="en-US" sz="1000"/>
          </a:p>
        </p:txBody>
      </p:sp>
      <p:sp>
        <p:nvSpPr>
          <p:cNvPr id="27" name="Text 25"/>
          <p:cNvSpPr/>
          <p:nvPr/>
        </p:nvSpPr>
        <p:spPr>
          <a:xfrm>
            <a:off x="6254496" y="12344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Dev</a:t>
            </a:r>
            <a:endParaRPr lang="en-US" sz="850"/>
          </a:p>
        </p:txBody>
      </p:sp>
      <p:sp>
        <p:nvSpPr>
          <p:cNvPr id="28" name="Text 26"/>
          <p:cNvSpPr/>
          <p:nvPr/>
        </p:nvSpPr>
        <p:spPr>
          <a:xfrm>
            <a:off x="6254496" y="14173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In Progress</a:t>
            </a:r>
            <a:endParaRPr lang="en-US" sz="800"/>
          </a:p>
        </p:txBody>
      </p:sp>
      <p:sp>
        <p:nvSpPr>
          <p:cNvPr id="29" name="Text 27"/>
          <p:cNvSpPr/>
          <p:nvPr/>
        </p:nvSpPr>
        <p:spPr>
          <a:xfrm>
            <a:off x="6254496" y="164592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Code theo AC</a:t>
            </a:r>
            <a:endParaRPr lang="en-US" sz="900"/>
          </a:p>
        </p:txBody>
      </p:sp>
      <p:sp>
        <p:nvSpPr>
          <p:cNvPr id="30" name="Text 28"/>
          <p:cNvSpPr/>
          <p:nvPr/>
        </p:nvSpPr>
        <p:spPr>
          <a:xfrm>
            <a:off x="6254496" y="198424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Unit test song song</a:t>
            </a:r>
            <a:endParaRPr lang="en-US" sz="900"/>
          </a:p>
        </p:txBody>
      </p:sp>
      <p:sp>
        <p:nvSpPr>
          <p:cNvPr id="31" name="Text 29"/>
          <p:cNvSpPr/>
          <p:nvPr/>
        </p:nvSpPr>
        <p:spPr>
          <a:xfrm>
            <a:off x="6254496" y="2322576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Commit nhỏ đúng format</a:t>
            </a:r>
            <a:endParaRPr lang="en-US" sz="900"/>
          </a:p>
        </p:txBody>
      </p:sp>
      <p:sp>
        <p:nvSpPr>
          <p:cNvPr id="32" name="Shape 30"/>
          <p:cNvSpPr/>
          <p:nvPr/>
        </p:nvSpPr>
        <p:spPr>
          <a:xfrm>
            <a:off x="365760" y="2926080"/>
            <a:ext cx="274320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2926080"/>
            <a:ext cx="274320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292608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/>
          </a:p>
        </p:txBody>
      </p:sp>
      <p:sp>
        <p:nvSpPr>
          <p:cNvPr id="35" name="Text 33"/>
          <p:cNvSpPr/>
          <p:nvPr/>
        </p:nvSpPr>
        <p:spPr>
          <a:xfrm>
            <a:off x="685800" y="29260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Self-review</a:t>
            </a:r>
            <a:endParaRPr lang="en-US" sz="1000"/>
          </a:p>
        </p:txBody>
      </p:sp>
      <p:sp>
        <p:nvSpPr>
          <p:cNvPr id="36" name="Text 34"/>
          <p:cNvSpPr/>
          <p:nvPr/>
        </p:nvSpPr>
        <p:spPr>
          <a:xfrm>
            <a:off x="457200" y="33101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Dev</a:t>
            </a:r>
            <a:endParaRPr lang="en-US" sz="850"/>
          </a:p>
        </p:txBody>
      </p:sp>
      <p:sp>
        <p:nvSpPr>
          <p:cNvPr id="37" name="Text 35"/>
          <p:cNvSpPr/>
          <p:nvPr/>
        </p:nvSpPr>
        <p:spPr>
          <a:xfrm>
            <a:off x="457200" y="34930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In Progress</a:t>
            </a:r>
            <a:endParaRPr lang="en-US" sz="800"/>
          </a:p>
        </p:txBody>
      </p:sp>
      <p:sp>
        <p:nvSpPr>
          <p:cNvPr id="38" name="Text 36"/>
          <p:cNvSpPr/>
          <p:nvPr/>
        </p:nvSpPr>
        <p:spPr>
          <a:xfrm>
            <a:off x="457200" y="372160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Đọc lại toàn bộ diff</a:t>
            </a:r>
            <a:endParaRPr lang="en-US" sz="900"/>
          </a:p>
        </p:txBody>
      </p:sp>
      <p:sp>
        <p:nvSpPr>
          <p:cNvPr id="39" name="Text 37"/>
          <p:cNvSpPr/>
          <p:nvPr/>
        </p:nvSpPr>
        <p:spPr>
          <a:xfrm>
            <a:off x="457200" y="4059936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Xóa debug code</a:t>
            </a:r>
            <a:endParaRPr lang="en-US" sz="900"/>
          </a:p>
        </p:txBody>
      </p:sp>
      <p:sp>
        <p:nvSpPr>
          <p:cNvPr id="40" name="Text 38"/>
          <p:cNvSpPr/>
          <p:nvPr/>
        </p:nvSpPr>
        <p:spPr>
          <a:xfrm>
            <a:off x="457200" y="4398264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Chạy test lần cuối</a:t>
            </a:r>
            <a:endParaRPr lang="en-US" sz="900"/>
          </a:p>
        </p:txBody>
      </p:sp>
      <p:sp>
        <p:nvSpPr>
          <p:cNvPr id="41" name="Shape 39"/>
          <p:cNvSpPr/>
          <p:nvPr/>
        </p:nvSpPr>
        <p:spPr>
          <a:xfrm>
            <a:off x="3264408" y="2926080"/>
            <a:ext cx="274320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64408" y="2926080"/>
            <a:ext cx="27432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37560" y="292608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/>
          </a:p>
        </p:txBody>
      </p:sp>
      <p:sp>
        <p:nvSpPr>
          <p:cNvPr id="44" name="Text 42"/>
          <p:cNvSpPr/>
          <p:nvPr/>
        </p:nvSpPr>
        <p:spPr>
          <a:xfrm>
            <a:off x="3584448" y="29260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&amp; Review</a:t>
            </a:r>
            <a:endParaRPr lang="en-US" sz="1000"/>
          </a:p>
        </p:txBody>
      </p:sp>
      <p:sp>
        <p:nvSpPr>
          <p:cNvPr id="45" name="Text 43"/>
          <p:cNvSpPr/>
          <p:nvPr/>
        </p:nvSpPr>
        <p:spPr>
          <a:xfrm>
            <a:off x="3355848" y="33101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Dev + Lead</a:t>
            </a:r>
            <a:endParaRPr lang="en-US" sz="850"/>
          </a:p>
        </p:txBody>
      </p:sp>
      <p:sp>
        <p:nvSpPr>
          <p:cNvPr id="46" name="Text 44"/>
          <p:cNvSpPr/>
          <p:nvPr/>
        </p:nvSpPr>
        <p:spPr>
          <a:xfrm>
            <a:off x="3355848" y="34930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In Review</a:t>
            </a:r>
            <a:endParaRPr lang="en-US" sz="800"/>
          </a:p>
        </p:txBody>
      </p:sp>
      <p:sp>
        <p:nvSpPr>
          <p:cNvPr id="47" name="Text 45"/>
          <p:cNvSpPr/>
          <p:nvPr/>
        </p:nvSpPr>
        <p:spPr>
          <a:xfrm>
            <a:off x="3355848" y="372160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Tạo PR theo template</a:t>
            </a:r>
            <a:endParaRPr lang="en-US" sz="900"/>
          </a:p>
        </p:txBody>
      </p:sp>
      <p:sp>
        <p:nvSpPr>
          <p:cNvPr id="48" name="Text 46"/>
          <p:cNvSpPr/>
          <p:nvPr/>
        </p:nvSpPr>
        <p:spPr>
          <a:xfrm>
            <a:off x="3355848" y="4059936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Reviewer SLA: 4 giờ</a:t>
            </a:r>
            <a:endParaRPr lang="en-US" sz="900"/>
          </a:p>
        </p:txBody>
      </p:sp>
      <p:sp>
        <p:nvSpPr>
          <p:cNvPr id="49" name="Text 47"/>
          <p:cNvSpPr/>
          <p:nvPr/>
        </p:nvSpPr>
        <p:spPr>
          <a:xfrm>
            <a:off x="3355848" y="4398264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Fix → Squash merge</a:t>
            </a:r>
            <a:endParaRPr lang="en-US" sz="900"/>
          </a:p>
        </p:txBody>
      </p:sp>
      <p:sp>
        <p:nvSpPr>
          <p:cNvPr id="50" name="Shape 48"/>
          <p:cNvSpPr/>
          <p:nvPr/>
        </p:nvSpPr>
        <p:spPr>
          <a:xfrm>
            <a:off x="6163056" y="2926080"/>
            <a:ext cx="274320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63056" y="2926080"/>
            <a:ext cx="274320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36208" y="292608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/>
          </a:p>
        </p:txBody>
      </p:sp>
      <p:sp>
        <p:nvSpPr>
          <p:cNvPr id="53" name="Text 51"/>
          <p:cNvSpPr/>
          <p:nvPr/>
        </p:nvSpPr>
        <p:spPr>
          <a:xfrm>
            <a:off x="6483096" y="29260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Bàn giao QA</a:t>
            </a:r>
            <a:endParaRPr lang="en-US" sz="1000"/>
          </a:p>
        </p:txBody>
      </p:sp>
      <p:sp>
        <p:nvSpPr>
          <p:cNvPr id="54" name="Text 52"/>
          <p:cNvSpPr/>
          <p:nvPr/>
        </p:nvSpPr>
        <p:spPr>
          <a:xfrm>
            <a:off x="6254496" y="33101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Dev + QA</a:t>
            </a:r>
            <a:endParaRPr lang="en-US" sz="850"/>
          </a:p>
        </p:txBody>
      </p:sp>
      <p:sp>
        <p:nvSpPr>
          <p:cNvPr id="55" name="Text 53"/>
          <p:cNvSpPr/>
          <p:nvPr/>
        </p:nvSpPr>
        <p:spPr>
          <a:xfrm>
            <a:off x="6254496" y="34930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Ready for QA</a:t>
            </a:r>
            <a:endParaRPr lang="en-US" sz="800"/>
          </a:p>
        </p:txBody>
      </p:sp>
      <p:sp>
        <p:nvSpPr>
          <p:cNvPr id="56" name="Text 54"/>
          <p:cNvSpPr/>
          <p:nvPr/>
        </p:nvSpPr>
        <p:spPr>
          <a:xfrm>
            <a:off x="6254496" y="372160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Theo dõi CI/CD</a:t>
            </a:r>
            <a:endParaRPr lang="en-US" sz="900"/>
          </a:p>
        </p:txBody>
      </p:sp>
      <p:sp>
        <p:nvSpPr>
          <p:cNvPr id="57" name="Text 55"/>
          <p:cNvSpPr/>
          <p:nvPr/>
        </p:nvSpPr>
        <p:spPr>
          <a:xfrm>
            <a:off x="6254496" y="4059936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Smoke test 5–10 phút</a:t>
            </a:r>
            <a:endParaRPr lang="en-US" sz="900"/>
          </a:p>
        </p:txBody>
      </p:sp>
      <p:sp>
        <p:nvSpPr>
          <p:cNvPr id="58" name="Text 56"/>
          <p:cNvSpPr/>
          <p:nvPr/>
        </p:nvSpPr>
        <p:spPr>
          <a:xfrm>
            <a:off x="6254496" y="4398264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Comment URL + steps cho QA</a:t>
            </a:r>
            <a:endParaRPr lang="en-US"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Phase — Bước 1, 2, 3: Nhận Req  ·  Tạo Branch  ·  Phát triển &amp; Commit</a:t>
            </a:r>
            <a:endParaRPr lang="en-US" sz="180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AIoT Inc  ·  Dev Process v1.1</a:t>
            </a:r>
            <a:endParaRPr lang="en-US" sz="90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269748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54864" cy="41330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96012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1 — Nhận &amp; hiểu Requirement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493776" y="1252728"/>
            <a:ext cx="2496312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kỹ ticket, không đọc lướt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điểm chưa rõ (ambiguity list)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 PM/BA — ghi vào comment ticket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giờ, ghi vào ticket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Hiểu đúng Acceptance Criteria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ticket → In Progress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Không code khi còn mơ hồ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Sau 4h chưa clarify → báo lead</a:t>
            </a:r>
            <a:endParaRPr lang="en-US" sz="950"/>
          </a:p>
        </p:txBody>
      </p:sp>
      <p:sp>
        <p:nvSpPr>
          <p:cNvPr id="9" name="Shape 7"/>
          <p:cNvSpPr/>
          <p:nvPr/>
        </p:nvSpPr>
        <p:spPr>
          <a:xfrm>
            <a:off x="3200400" y="868680"/>
            <a:ext cx="269748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868680"/>
            <a:ext cx="54864" cy="41330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28416" y="96012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2 — Tạo Branch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3328416" y="1252728"/>
            <a:ext cx="2496312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pull origin develop (lấy latest)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Tạo: feature/TICKET-123-mo-ta-ngan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đang đứng đúng branch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nếu có deps mới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app chạy được trước khi code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Không tạo branch từ main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1 ticket = 1 branch duy nhất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Không đặt tên tuỳ tiện (john-fix, test)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6035040" y="868680"/>
            <a:ext cx="310896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868680"/>
            <a:ext cx="54864" cy="41330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63056" y="9601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3 — Phát triển &amp; Commit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6163056" y="1252728"/>
            <a:ext cx="2907792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đúng theo Acceptance Criteria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Hàm ≤ 30 dòng · File ≤ 300 dòng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input · Xử lý error đầy đủ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hardcode secret/config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unit test song song business logic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format: feat(scope): desc #TICKET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Rebase develop vào branch mỗi ngày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remote hàng ngày để backup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Không commit console.log, dead code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Task &gt;3 ngày chưa xong → báo lead</a:t>
            </a:r>
            <a:endParaRPr lang="en-US" sz="9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Phase — Bước 4, 5, 6: Self-review  ·  PR &amp; Review  ·  Deploy &amp; Bàn giao QA</a:t>
            </a:r>
            <a:endParaRPr lang="en-US" sz="180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AIoT Inc  ·  Dev Process v1.1</a:t>
            </a:r>
            <a:endParaRPr lang="en-US" sz="90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269748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54864" cy="41330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96012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4 — Self-review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493776" y="1252728"/>
            <a:ext cx="2496312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lại toàn bộ diff như reviewer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Xóa console.log, debugger, dead code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secret/hardcoded value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 biến/hàm rõ nghĩa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đủ chưa?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Auth/permission bị bỏ sót không?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npm test lần cuối — pass 100%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tay tính năng trên local lần cuối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PR bị comment 'xóa console.log' = lỗi bỏ qua bước này</a:t>
            </a:r>
            <a:endParaRPr lang="en-US" sz="950"/>
          </a:p>
        </p:txBody>
      </p:sp>
      <p:sp>
        <p:nvSpPr>
          <p:cNvPr id="9" name="Shape 7"/>
          <p:cNvSpPr/>
          <p:nvPr/>
        </p:nvSpPr>
        <p:spPr>
          <a:xfrm>
            <a:off x="3200400" y="868680"/>
            <a:ext cx="269748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868680"/>
            <a:ext cx="54864" cy="41330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28416" y="96012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5 — Tạo PR &amp; Review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3328416" y="1252728"/>
            <a:ext cx="2496312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Điền đầy đủ PR template, không để trống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ticket vào PR description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reviewer phù hợp (biết domain)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test plan: steps + expected result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ticket → In Review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Reviewer: review trong 4 giờ làm việc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Reviewer: dùng prefix Blocker: / Nit: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Blocker → Re-request review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Không merge khi còn comment open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Không merge khi CI chưa pass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6035040" y="868680"/>
            <a:ext cx="310896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868680"/>
            <a:ext cx="54864" cy="41330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63056" y="9601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6 — Deploy Dev &amp; Bàn giao QA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6163056" y="1252728"/>
            <a:ext cx="2907792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CI/CD pipeline cho đến xong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nhận health check endpoint OK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log deploy — không có error lạ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 happy path (5–10 phút)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tính năng liên quan không bị ảnh hưởng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ticket → Ready for QA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vào ticket: URL dev + account test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steps to reproduce / test scenario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edge case đặc biệt QA cần chú ý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Không move QA khi chưa smoke test</a:t>
            </a:r>
            <a:endParaRPr lang="en-US" sz="9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9258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0" y="1828800"/>
            <a:ext cx="3291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0" b="1">
                <a:solidFill>
                  <a:srgbClr val="FFFFFF">
                    <a:alpha val="7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0"/>
          </a:p>
        </p:txBody>
      </p:sp>
      <p:sp>
        <p:nvSpPr>
          <p:cNvPr id="3" name="Text 1"/>
          <p:cNvSpPr/>
          <p:nvPr/>
        </p:nvSpPr>
        <p:spPr>
          <a:xfrm>
            <a:off x="365760" y="14630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04</a:t>
            </a:r>
            <a:endParaRPr lang="en-US" sz="3400"/>
          </a:p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Convention &amp; Rules</a:t>
            </a:r>
            <a:endParaRPr lang="en-US" sz="3400"/>
          </a:p>
        </p:txBody>
      </p:sp>
      <p:sp>
        <p:nvSpPr>
          <p:cNvPr id="4" name="Text 2"/>
          <p:cNvSpPr/>
          <p:nvPr/>
        </p:nvSpPr>
        <p:spPr>
          <a:xfrm>
            <a:off x="365760" y="26060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A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strategy · Commit format · Rules bắt buộc</a:t>
            </a:r>
            <a:endParaRPr lang="en-US" sz="1500"/>
          </a:p>
        </p:txBody>
      </p:sp>
      <p:sp>
        <p:nvSpPr>
          <p:cNvPr id="5" name="Shape 3"/>
          <p:cNvSpPr/>
          <p:nvPr/>
        </p:nvSpPr>
        <p:spPr>
          <a:xfrm>
            <a:off x="365760" y="4389120"/>
            <a:ext cx="146304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Convention — Branching Strategy &amp; Commit Format</a:t>
            </a:r>
            <a:endParaRPr lang="en-US" sz="180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AIoT Inc  ·  Dev Process v1.1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365760" y="8503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Strategy — GitFlow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365760" y="1161288"/>
            <a:ext cx="4160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61288"/>
            <a:ext cx="45720" cy="5120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2161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950"/>
          </a:p>
        </p:txBody>
      </p:sp>
      <p:sp>
        <p:nvSpPr>
          <p:cNvPr id="9" name="Text 7"/>
          <p:cNvSpPr/>
          <p:nvPr/>
        </p:nvSpPr>
        <p:spPr>
          <a:xfrm>
            <a:off x="484632" y="142646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only · Không ai push trực tiếp</a:t>
            </a:r>
            <a:endParaRPr lang="en-US" sz="850"/>
          </a:p>
        </p:txBody>
      </p:sp>
      <p:sp>
        <p:nvSpPr>
          <p:cNvPr id="10" name="Shape 8"/>
          <p:cNvSpPr/>
          <p:nvPr/>
        </p:nvSpPr>
        <p:spPr>
          <a:xfrm>
            <a:off x="365760" y="1746504"/>
            <a:ext cx="4160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746504"/>
            <a:ext cx="45720" cy="5120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18013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endParaRPr lang="en-US" sz="950"/>
          </a:p>
        </p:txBody>
      </p:sp>
      <p:sp>
        <p:nvSpPr>
          <p:cNvPr id="13" name="Text 11"/>
          <p:cNvSpPr/>
          <p:nvPr/>
        </p:nvSpPr>
        <p:spPr>
          <a:xfrm>
            <a:off x="484632" y="201168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branch · Auto deploy lên Dev env</a:t>
            </a:r>
            <a:endParaRPr lang="en-US" sz="850"/>
          </a:p>
        </p:txBody>
      </p:sp>
      <p:sp>
        <p:nvSpPr>
          <p:cNvPr id="14" name="Shape 12"/>
          <p:cNvSpPr/>
          <p:nvPr/>
        </p:nvSpPr>
        <p:spPr>
          <a:xfrm>
            <a:off x="365760" y="2331720"/>
            <a:ext cx="4160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331720"/>
            <a:ext cx="45720" cy="5120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23865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feature/TICKET-desc</a:t>
            </a:r>
            <a:endParaRPr lang="en-US" sz="950"/>
          </a:p>
        </p:txBody>
      </p:sp>
      <p:sp>
        <p:nvSpPr>
          <p:cNvPr id="17" name="Text 15"/>
          <p:cNvSpPr/>
          <p:nvPr/>
        </p:nvSpPr>
        <p:spPr>
          <a:xfrm>
            <a:off x="484632" y="259689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năng mới · Tạo từ develop</a:t>
            </a:r>
            <a:endParaRPr lang="en-US" sz="850"/>
          </a:p>
        </p:txBody>
      </p:sp>
      <p:sp>
        <p:nvSpPr>
          <p:cNvPr id="18" name="Shape 16"/>
          <p:cNvSpPr/>
          <p:nvPr/>
        </p:nvSpPr>
        <p:spPr>
          <a:xfrm>
            <a:off x="365760" y="2916936"/>
            <a:ext cx="4160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916936"/>
            <a:ext cx="45720" cy="5120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" y="29718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bugfix/TICKET-desc</a:t>
            </a:r>
            <a:endParaRPr lang="en-US" sz="950"/>
          </a:p>
        </p:txBody>
      </p:sp>
      <p:sp>
        <p:nvSpPr>
          <p:cNvPr id="21" name="Text 19"/>
          <p:cNvSpPr/>
          <p:nvPr/>
        </p:nvSpPr>
        <p:spPr>
          <a:xfrm>
            <a:off x="484632" y="318211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bug từ QA · Tạo từ develop</a:t>
            </a:r>
            <a:endParaRPr lang="en-US" sz="850"/>
          </a:p>
        </p:txBody>
      </p:sp>
      <p:sp>
        <p:nvSpPr>
          <p:cNvPr id="22" name="Shape 20"/>
          <p:cNvSpPr/>
          <p:nvPr/>
        </p:nvSpPr>
        <p:spPr>
          <a:xfrm>
            <a:off x="365760" y="3502152"/>
            <a:ext cx="4160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502152"/>
            <a:ext cx="45720" cy="5120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" y="35570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hotfix/TICKET-desc</a:t>
            </a:r>
            <a:endParaRPr lang="en-US" sz="950"/>
          </a:p>
        </p:txBody>
      </p:sp>
      <p:sp>
        <p:nvSpPr>
          <p:cNvPr id="25" name="Text 23"/>
          <p:cNvSpPr/>
          <p:nvPr/>
        </p:nvSpPr>
        <p:spPr>
          <a:xfrm>
            <a:off x="484632" y="37673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khẩn trên prod · Tạo từ main</a:t>
            </a:r>
            <a:endParaRPr lang="en-US" sz="850"/>
          </a:p>
        </p:txBody>
      </p:sp>
      <p:sp>
        <p:nvSpPr>
          <p:cNvPr id="26" name="Shape 24"/>
          <p:cNvSpPr/>
          <p:nvPr/>
        </p:nvSpPr>
        <p:spPr>
          <a:xfrm>
            <a:off x="365760" y="4087368"/>
            <a:ext cx="4160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4087368"/>
            <a:ext cx="45720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" y="41422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release/v1.x.x</a:t>
            </a:r>
            <a:endParaRPr lang="en-US" sz="950"/>
          </a:p>
        </p:txBody>
      </p:sp>
      <p:sp>
        <p:nvSpPr>
          <p:cNvPr id="29" name="Text 27"/>
          <p:cNvSpPr/>
          <p:nvPr/>
        </p:nvSpPr>
        <p:spPr>
          <a:xfrm>
            <a:off x="484632" y="435254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bị release · Merge vào main + develop</a:t>
            </a:r>
            <a:endParaRPr lang="en-US" sz="850"/>
          </a:p>
        </p:txBody>
      </p:sp>
      <p:sp>
        <p:nvSpPr>
          <p:cNvPr id="30" name="Text 28"/>
          <p:cNvSpPr/>
          <p:nvPr/>
        </p:nvSpPr>
        <p:spPr>
          <a:xfrm>
            <a:off x="4663440" y="85039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Convention — Conventional Commits</a:t>
            </a:r>
            <a:endParaRPr lang="en-US" sz="1200"/>
          </a:p>
        </p:txBody>
      </p:sp>
      <p:sp>
        <p:nvSpPr>
          <p:cNvPr id="31" name="Shape 29"/>
          <p:cNvSpPr/>
          <p:nvPr/>
        </p:nvSpPr>
        <p:spPr>
          <a:xfrm>
            <a:off x="4663440" y="1161288"/>
            <a:ext cx="4160520" cy="475488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1161288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type(scope): message #TICKET-ID</a:t>
            </a:r>
            <a:endParaRPr lang="en-US" sz="1200"/>
          </a:p>
        </p:txBody>
      </p:sp>
      <p:sp>
        <p:nvSpPr>
          <p:cNvPr id="33" name="Shape 31"/>
          <p:cNvSpPr/>
          <p:nvPr/>
        </p:nvSpPr>
        <p:spPr>
          <a:xfrm>
            <a:off x="4663440" y="1709928"/>
            <a:ext cx="19659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1709928"/>
            <a:ext cx="45720" cy="4937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168" y="175564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</a:t>
            </a:r>
            <a:endParaRPr lang="en-US" sz="1000"/>
          </a:p>
        </p:txBody>
      </p:sp>
      <p:sp>
        <p:nvSpPr>
          <p:cNvPr id="36" name="Text 34"/>
          <p:cNvSpPr/>
          <p:nvPr/>
        </p:nvSpPr>
        <p:spPr>
          <a:xfrm>
            <a:off x="4773168" y="1965960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năng mới</a:t>
            </a:r>
            <a:endParaRPr lang="en-US" sz="850"/>
          </a:p>
        </p:txBody>
      </p:sp>
      <p:sp>
        <p:nvSpPr>
          <p:cNvPr id="37" name="Shape 35"/>
          <p:cNvSpPr/>
          <p:nvPr/>
        </p:nvSpPr>
        <p:spPr>
          <a:xfrm>
            <a:off x="6830568" y="1709928"/>
            <a:ext cx="19659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30568" y="1709928"/>
            <a:ext cx="45720" cy="4937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40296" y="175564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</a:t>
            </a:r>
            <a:endParaRPr lang="en-US" sz="1000"/>
          </a:p>
        </p:txBody>
      </p:sp>
      <p:sp>
        <p:nvSpPr>
          <p:cNvPr id="40" name="Text 38"/>
          <p:cNvSpPr/>
          <p:nvPr/>
        </p:nvSpPr>
        <p:spPr>
          <a:xfrm>
            <a:off x="6940296" y="1965960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Sửa bug</a:t>
            </a:r>
            <a:endParaRPr lang="en-US" sz="850"/>
          </a:p>
        </p:txBody>
      </p:sp>
      <p:sp>
        <p:nvSpPr>
          <p:cNvPr id="41" name="Shape 39"/>
          <p:cNvSpPr/>
          <p:nvPr/>
        </p:nvSpPr>
        <p:spPr>
          <a:xfrm>
            <a:off x="4663440" y="2276856"/>
            <a:ext cx="19659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2276856"/>
            <a:ext cx="45720" cy="4937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73168" y="232257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refactor</a:t>
            </a:r>
            <a:endParaRPr lang="en-US" sz="1000"/>
          </a:p>
        </p:txBody>
      </p:sp>
      <p:sp>
        <p:nvSpPr>
          <p:cNvPr id="44" name="Text 42"/>
          <p:cNvSpPr/>
          <p:nvPr/>
        </p:nvSpPr>
        <p:spPr>
          <a:xfrm>
            <a:off x="4773168" y="2532888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Tái cấu trúc code</a:t>
            </a:r>
            <a:endParaRPr lang="en-US" sz="850"/>
          </a:p>
        </p:txBody>
      </p:sp>
      <p:sp>
        <p:nvSpPr>
          <p:cNvPr id="45" name="Shape 43"/>
          <p:cNvSpPr/>
          <p:nvPr/>
        </p:nvSpPr>
        <p:spPr>
          <a:xfrm>
            <a:off x="6830568" y="2276856"/>
            <a:ext cx="19659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30568" y="2276856"/>
            <a:ext cx="45720" cy="4937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40296" y="232257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</a:t>
            </a:r>
            <a:endParaRPr lang="en-US" sz="1000"/>
          </a:p>
        </p:txBody>
      </p:sp>
      <p:sp>
        <p:nvSpPr>
          <p:cNvPr id="48" name="Text 46"/>
          <p:cNvSpPr/>
          <p:nvPr/>
        </p:nvSpPr>
        <p:spPr>
          <a:xfrm>
            <a:off x="6940296" y="2532888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Thêm/sửa test</a:t>
            </a:r>
            <a:endParaRPr lang="en-US" sz="850"/>
          </a:p>
        </p:txBody>
      </p:sp>
      <p:sp>
        <p:nvSpPr>
          <p:cNvPr id="49" name="Shape 47"/>
          <p:cNvSpPr/>
          <p:nvPr/>
        </p:nvSpPr>
        <p:spPr>
          <a:xfrm>
            <a:off x="4663440" y="2843784"/>
            <a:ext cx="19659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63440" y="2843784"/>
            <a:ext cx="45720" cy="4937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73168" y="2889504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</a:t>
            </a:r>
            <a:endParaRPr lang="en-US" sz="1000"/>
          </a:p>
        </p:txBody>
      </p:sp>
      <p:sp>
        <p:nvSpPr>
          <p:cNvPr id="52" name="Text 50"/>
          <p:cNvSpPr/>
          <p:nvPr/>
        </p:nvSpPr>
        <p:spPr>
          <a:xfrm>
            <a:off x="4773168" y="3099816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tài liệu</a:t>
            </a:r>
            <a:endParaRPr lang="en-US" sz="850"/>
          </a:p>
        </p:txBody>
      </p:sp>
      <p:sp>
        <p:nvSpPr>
          <p:cNvPr id="53" name="Shape 51"/>
          <p:cNvSpPr/>
          <p:nvPr/>
        </p:nvSpPr>
        <p:spPr>
          <a:xfrm>
            <a:off x="6830568" y="2843784"/>
            <a:ext cx="19659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830568" y="2843784"/>
            <a:ext cx="45720" cy="4937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40296" y="2889504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chore</a:t>
            </a:r>
            <a:endParaRPr lang="en-US" sz="1000"/>
          </a:p>
        </p:txBody>
      </p:sp>
      <p:sp>
        <p:nvSpPr>
          <p:cNvPr id="56" name="Text 54"/>
          <p:cNvSpPr/>
          <p:nvPr/>
        </p:nvSpPr>
        <p:spPr>
          <a:xfrm>
            <a:off x="6940296" y="3099816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Config, deps, CI</a:t>
            </a:r>
            <a:endParaRPr lang="en-US" sz="850"/>
          </a:p>
        </p:txBody>
      </p:sp>
      <p:sp>
        <p:nvSpPr>
          <p:cNvPr id="57" name="Shape 55"/>
          <p:cNvSpPr/>
          <p:nvPr/>
        </p:nvSpPr>
        <p:spPr>
          <a:xfrm>
            <a:off x="4663440" y="3429000"/>
            <a:ext cx="4160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54880" y="35204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dụ:</a:t>
            </a:r>
            <a:endParaRPr lang="en-US" sz="900"/>
          </a:p>
        </p:txBody>
      </p:sp>
      <p:sp>
        <p:nvSpPr>
          <p:cNvPr id="59" name="Text 57"/>
          <p:cNvSpPr/>
          <p:nvPr/>
        </p:nvSpPr>
        <p:spPr>
          <a:xfrm>
            <a:off x="4754880" y="375818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feat(auth): add JWT refresh token #SM-42</a:t>
            </a:r>
            <a:endParaRPr lang="en-US" sz="900"/>
          </a:p>
        </p:txBody>
      </p:sp>
      <p:sp>
        <p:nvSpPr>
          <p:cNvPr id="60" name="Text 58"/>
          <p:cNvSpPr/>
          <p:nvPr/>
        </p:nvSpPr>
        <p:spPr>
          <a:xfrm>
            <a:off x="4754880" y="39959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fix(api): handle null user on login #SM-55</a:t>
            </a:r>
            <a:endParaRPr lang="en-US" sz="900"/>
          </a:p>
        </p:txBody>
      </p:sp>
      <p:sp>
        <p:nvSpPr>
          <p:cNvPr id="61" name="Text 59"/>
          <p:cNvSpPr/>
          <p:nvPr/>
        </p:nvSpPr>
        <p:spPr>
          <a:xfrm>
            <a:off x="4754880" y="423367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fix bug</a:t>
            </a:r>
            <a:endParaRPr lang="en-US" sz="900"/>
          </a:p>
        </p:txBody>
      </p:sp>
      <p:sp>
        <p:nvSpPr>
          <p:cNvPr id="62" name="Text 60"/>
          <p:cNvSpPr/>
          <p:nvPr/>
        </p:nvSpPr>
        <p:spPr>
          <a:xfrm>
            <a:off x="4754880" y="44714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wip</a:t>
            </a:r>
            <a:endParaRPr lang="en-US" sz="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5B21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0" y="1828800"/>
            <a:ext cx="3291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0" b="1">
                <a:solidFill>
                  <a:srgbClr val="FFFFFF">
                    <a:alpha val="7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0"/>
          </a:p>
        </p:txBody>
      </p:sp>
      <p:sp>
        <p:nvSpPr>
          <p:cNvPr id="3" name="Text 1"/>
          <p:cNvSpPr/>
          <p:nvPr/>
        </p:nvSpPr>
        <p:spPr>
          <a:xfrm>
            <a:off x="365760" y="14630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05</a:t>
            </a:r>
            <a:endParaRPr lang="en-US" sz="3400"/>
          </a:p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Tools</a:t>
            </a:r>
            <a:endParaRPr lang="en-US" sz="3400"/>
          </a:p>
        </p:txBody>
      </p:sp>
      <p:sp>
        <p:nvSpPr>
          <p:cNvPr id="4" name="Text 2"/>
          <p:cNvSpPr/>
          <p:nvPr/>
        </p:nvSpPr>
        <p:spPr>
          <a:xfrm>
            <a:off x="365760" y="26060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A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· Pre-commit · Pre-push · CI Pipeline · Lộ trình triển khai</a:t>
            </a:r>
            <a:endParaRPr lang="en-US" sz="1500"/>
          </a:p>
        </p:txBody>
      </p:sp>
      <p:sp>
        <p:nvSpPr>
          <p:cNvPr id="5" name="Shape 3"/>
          <p:cNvSpPr/>
          <p:nvPr/>
        </p:nvSpPr>
        <p:spPr>
          <a:xfrm>
            <a:off x="365760" y="4389120"/>
            <a:ext cx="146304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Tools — Tổng hợp theo giai đoạn coding</a:t>
            </a:r>
            <a:endParaRPr lang="en-US" sz="180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AIoT Inc  ·  Dev Process v1.1</a:t>
            </a:r>
            <a:endParaRPr lang="en-US" sz="90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50392"/>
          <a:ext cx="8412480" cy="914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Vai trò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Khi nào chạy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cần làm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 phí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>
                          <a:solidFill>
                            <a:srgbClr val="1C3A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EditorConfig</a:t>
                      </a:r>
                      <a:endParaRPr lang="en-US" sz="85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Đồng nhất editor settings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 tự động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cần làm gì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Miễn phí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>
                          <a:solidFill>
                            <a:srgbClr val="1C3A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ESLint</a:t>
                      </a:r>
                      <a:endParaRPr lang="en-US" sz="85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Phát hiện lỗi code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 + pre-commit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Cài extension VS Code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Miễn phí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>
                          <a:solidFill>
                            <a:srgbClr val="1C3A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Prettier</a:t>
                      </a:r>
                      <a:endParaRPr lang="en-US" sz="85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 code tự động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 + pre-commit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Bật Format on Save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Miễn phí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>
                          <a:solidFill>
                            <a:srgbClr val="1C3A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SonarLint</a:t>
                      </a:r>
                      <a:endParaRPr lang="en-US" sz="85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 &amp; security trong IDE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 realtime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Cài plugin IDE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Miễn phí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>
                          <a:solidFill>
                            <a:srgbClr val="1C3A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Husky</a:t>
                      </a:r>
                      <a:endParaRPr lang="en-US" sz="85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Quản lý Git hooks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pre-commit + pre-push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npm install là xong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Miễn phí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>
                          <a:solidFill>
                            <a:srgbClr val="1C3A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lint-staged</a:t>
                      </a:r>
                      <a:endParaRPr lang="en-US" sz="85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Lint chỉ file staged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pre-commit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Tự động qua Husky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Miễn phí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>
                          <a:solidFill>
                            <a:srgbClr val="1C3A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commitlint</a:t>
                      </a:r>
                      <a:endParaRPr lang="en-US" sz="85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 commit format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commit-msg hook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Viết đúng format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Miễn phí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>
                          <a:solidFill>
                            <a:srgbClr val="1C3A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Gitleaks</a:t>
                      </a:r>
                      <a:endParaRPr lang="en-US" sz="85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 secret/credential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pre-commit + pre-push + CI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commit secret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Miễn phí OSS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>
                          <a:solidFill>
                            <a:srgbClr val="1C3A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git-secrets</a:t>
                      </a:r>
                      <a:endParaRPr lang="en-US" sz="85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 AWS credential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pre-commit hook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Cài một lần/máy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Miễn phí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>
                          <a:solidFill>
                            <a:srgbClr val="1C3A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Jest --coverage</a:t>
                      </a:r>
                      <a:endParaRPr lang="en-US" sz="85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+ coverage gate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pre-push + CI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Viết test đủ ngưỡng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Miễn phí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>
                          <a:solidFill>
                            <a:srgbClr val="1C3A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npm audit</a:t>
                      </a:r>
                      <a:endParaRPr lang="en-US" sz="85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Dependency vuln check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pre-push + CI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npm audit fix khi có lỗi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npm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>
                          <a:solidFill>
                            <a:srgbClr val="1C3A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SonarQube</a:t>
                      </a:r>
                      <a:endParaRPr lang="en-US" sz="85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quality + security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+ PR review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Xem kết quả, fix issue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 free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>
                          <a:solidFill>
                            <a:srgbClr val="1C3A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Snyk</a:t>
                      </a:r>
                      <a:endParaRPr lang="en-US" sz="85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SAST + dependency scan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+ PR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theo suggestion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200/tháng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>
                          <a:solidFill>
                            <a:srgbClr val="1C3A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Trivy</a:t>
                      </a:r>
                      <a:endParaRPr lang="en-US" sz="85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image scan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sau build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base image CVE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Miễn phí OSS</a:t>
                      </a:r>
                      <a:endParaRPr lang="en-US" sz="8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Tools — Lộ trình triển khai (không cần cài hết cùng lúc)</a:t>
            </a:r>
            <a:endParaRPr lang="en-US" sz="180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AIoT Inc  ·  Dev Process v1.1</a:t>
            </a:r>
            <a:endParaRPr lang="en-US" sz="900"/>
          </a:p>
        </p:txBody>
      </p:sp>
      <p:sp>
        <p:nvSpPr>
          <p:cNvPr id="5" name="Shape 3"/>
          <p:cNvSpPr/>
          <p:nvPr/>
        </p:nvSpPr>
        <p:spPr>
          <a:xfrm>
            <a:off x="365760" y="850392"/>
            <a:ext cx="2697480" cy="4754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5039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1–2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365760" y="1088136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 cơ bản</a:t>
            </a:r>
            <a:endParaRPr lang="en-US" sz="900"/>
          </a:p>
        </p:txBody>
      </p:sp>
      <p:sp>
        <p:nvSpPr>
          <p:cNvPr id="8" name="Shape 6"/>
          <p:cNvSpPr/>
          <p:nvPr/>
        </p:nvSpPr>
        <p:spPr>
          <a:xfrm>
            <a:off x="365760" y="1344168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554480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150876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EditorConfig + ESLint + Prettier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475488" y="1975104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92938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Husky + lint-staged + commitlint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475488" y="2395728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235000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Gitleaks (pre-commit)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475488" y="2816352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277063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SonarLint (mỗi dev cài IDE)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475488" y="3236976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" y="319125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git-secrets (AWS credential)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365760" y="3749040"/>
            <a:ext cx="2697480" cy="365760"/>
          </a:xfrm>
          <a:prstGeom prst="rect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7490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80% coverage ngay từ đầu</a:t>
            </a:r>
            <a:endParaRPr lang="en-US" sz="900"/>
          </a:p>
        </p:txBody>
      </p:sp>
      <p:sp>
        <p:nvSpPr>
          <p:cNvPr id="21" name="Shape 19"/>
          <p:cNvSpPr/>
          <p:nvPr/>
        </p:nvSpPr>
        <p:spPr>
          <a:xfrm>
            <a:off x="3218688" y="850392"/>
            <a:ext cx="269748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18688" y="85039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3–4</a:t>
            </a:r>
            <a:endParaRPr lang="en-US" sz="1300"/>
          </a:p>
        </p:txBody>
      </p:sp>
      <p:sp>
        <p:nvSpPr>
          <p:cNvPr id="23" name="Text 21"/>
          <p:cNvSpPr/>
          <p:nvPr/>
        </p:nvSpPr>
        <p:spPr>
          <a:xfrm>
            <a:off x="3218688" y="1088136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Nâng cao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3218688" y="1344168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28416" y="1554480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47872" y="150876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Gitleaks (pre-push + CI)</a:t>
            </a:r>
            <a:endParaRPr lang="en-US" sz="950"/>
          </a:p>
        </p:txBody>
      </p:sp>
      <p:sp>
        <p:nvSpPr>
          <p:cNvPr id="27" name="Shape 25"/>
          <p:cNvSpPr/>
          <p:nvPr/>
        </p:nvSpPr>
        <p:spPr>
          <a:xfrm>
            <a:off x="3328416" y="1975104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47872" y="192938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--coverage gate (pre-push)</a:t>
            </a:r>
            <a:endParaRPr lang="en-US" sz="950"/>
          </a:p>
        </p:txBody>
      </p:sp>
      <p:sp>
        <p:nvSpPr>
          <p:cNvPr id="29" name="Shape 27"/>
          <p:cNvSpPr/>
          <p:nvPr/>
        </p:nvSpPr>
        <p:spPr>
          <a:xfrm>
            <a:off x="3328416" y="2395728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47872" y="235000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audit trong CI pipeline</a:t>
            </a:r>
            <a:endParaRPr lang="en-US" sz="950"/>
          </a:p>
        </p:txBody>
      </p:sp>
      <p:sp>
        <p:nvSpPr>
          <p:cNvPr id="31" name="Shape 29"/>
          <p:cNvSpPr/>
          <p:nvPr/>
        </p:nvSpPr>
        <p:spPr>
          <a:xfrm>
            <a:off x="3328416" y="2816352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47872" y="277063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self-hosted (Docker)</a:t>
            </a:r>
            <a:endParaRPr lang="en-US" sz="950"/>
          </a:p>
        </p:txBody>
      </p:sp>
      <p:sp>
        <p:nvSpPr>
          <p:cNvPr id="33" name="Shape 31"/>
          <p:cNvSpPr/>
          <p:nvPr/>
        </p:nvSpPr>
        <p:spPr>
          <a:xfrm>
            <a:off x="3328416" y="3236976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47872" y="319125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 JS cho PR automation</a:t>
            </a:r>
            <a:endParaRPr lang="en-US" sz="950"/>
          </a:p>
        </p:txBody>
      </p:sp>
      <p:sp>
        <p:nvSpPr>
          <p:cNvPr id="35" name="Shape 33"/>
          <p:cNvSpPr/>
          <p:nvPr/>
        </p:nvSpPr>
        <p:spPr>
          <a:xfrm>
            <a:off x="3218688" y="3749040"/>
            <a:ext cx="2697480" cy="365760"/>
          </a:xfrm>
          <a:prstGeom prst="rect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18688" y="37490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CI pipeline hoàn chỉnh</a:t>
            </a:r>
            <a:endParaRPr lang="en-US" sz="900"/>
          </a:p>
        </p:txBody>
      </p:sp>
      <p:sp>
        <p:nvSpPr>
          <p:cNvPr id="37" name="Shape 35"/>
          <p:cNvSpPr/>
          <p:nvPr/>
        </p:nvSpPr>
        <p:spPr>
          <a:xfrm>
            <a:off x="6071616" y="850392"/>
            <a:ext cx="269748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71616" y="85039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Tháng 2+</a:t>
            </a:r>
            <a:endParaRPr lang="en-US" sz="1300"/>
          </a:p>
        </p:txBody>
      </p:sp>
      <p:sp>
        <p:nvSpPr>
          <p:cNvPr id="39" name="Text 37"/>
          <p:cNvSpPr/>
          <p:nvPr/>
        </p:nvSpPr>
        <p:spPr>
          <a:xfrm>
            <a:off x="6071616" y="1088136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bản</a:t>
            </a:r>
            <a:endParaRPr lang="en-US" sz="900"/>
          </a:p>
        </p:txBody>
      </p:sp>
      <p:sp>
        <p:nvSpPr>
          <p:cNvPr id="40" name="Shape 38"/>
          <p:cNvSpPr/>
          <p:nvPr/>
        </p:nvSpPr>
        <p:spPr>
          <a:xfrm>
            <a:off x="6071616" y="1344168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81344" y="155448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0" y="150876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Snyk SAST + dependency scan</a:t>
            </a:r>
            <a:endParaRPr lang="en-US" sz="950"/>
          </a:p>
        </p:txBody>
      </p:sp>
      <p:sp>
        <p:nvSpPr>
          <p:cNvPr id="43" name="Shape 41"/>
          <p:cNvSpPr/>
          <p:nvPr/>
        </p:nvSpPr>
        <p:spPr>
          <a:xfrm>
            <a:off x="6181344" y="1975104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0" y="192938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Docker image scan</a:t>
            </a:r>
            <a:endParaRPr lang="en-US" sz="950"/>
          </a:p>
        </p:txBody>
      </p:sp>
      <p:sp>
        <p:nvSpPr>
          <p:cNvPr id="45" name="Shape 43"/>
          <p:cNvSpPr/>
          <p:nvPr/>
        </p:nvSpPr>
        <p:spPr>
          <a:xfrm>
            <a:off x="6181344" y="2395728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0" y="235000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CODEOWNERS trên GitLab</a:t>
            </a:r>
            <a:endParaRPr lang="en-US" sz="950"/>
          </a:p>
        </p:txBody>
      </p:sp>
      <p:sp>
        <p:nvSpPr>
          <p:cNvPr id="47" name="Shape 45"/>
          <p:cNvSpPr/>
          <p:nvPr/>
        </p:nvSpPr>
        <p:spPr>
          <a:xfrm>
            <a:off x="6181344" y="2816352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0" y="277063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Quality Gate chặt</a:t>
            </a:r>
            <a:endParaRPr lang="en-US" sz="950"/>
          </a:p>
        </p:txBody>
      </p:sp>
      <p:sp>
        <p:nvSpPr>
          <p:cNvPr id="49" name="Shape 47"/>
          <p:cNvSpPr/>
          <p:nvPr/>
        </p:nvSpPr>
        <p:spPr>
          <a:xfrm>
            <a:off x="6181344" y="3236976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0" y="319125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dashboard Lead review</a:t>
            </a:r>
            <a:endParaRPr lang="en-US" sz="950"/>
          </a:p>
        </p:txBody>
      </p:sp>
      <p:sp>
        <p:nvSpPr>
          <p:cNvPr id="51" name="Shape 49"/>
          <p:cNvSpPr/>
          <p:nvPr/>
        </p:nvSpPr>
        <p:spPr>
          <a:xfrm>
            <a:off x="6071616" y="3749040"/>
            <a:ext cx="2697480" cy="36576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71616" y="37490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Enterprise-grade security</a:t>
            </a:r>
            <a:endParaRPr lang="en-US" sz="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6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0" y="1828800"/>
            <a:ext cx="3291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0" b="1">
                <a:solidFill>
                  <a:srgbClr val="FFFFFF">
                    <a:alpha val="7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0"/>
          </a:p>
        </p:txBody>
      </p:sp>
      <p:sp>
        <p:nvSpPr>
          <p:cNvPr id="3" name="Text 1"/>
          <p:cNvSpPr/>
          <p:nvPr/>
        </p:nvSpPr>
        <p:spPr>
          <a:xfrm>
            <a:off x="365760" y="14630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06</a:t>
            </a:r>
            <a:endParaRPr lang="en-US" sz="3400"/>
          </a:p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Flow</a:t>
            </a:r>
            <a:endParaRPr lang="en-US" sz="3400"/>
          </a:p>
        </p:txBody>
      </p:sp>
      <p:sp>
        <p:nvSpPr>
          <p:cNvPr id="4" name="Text 2"/>
          <p:cNvSpPr/>
          <p:nvPr/>
        </p:nvSpPr>
        <p:spPr>
          <a:xfrm>
            <a:off x="365760" y="26060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A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xử lý nâng cao · Bug · Hotfix · CI fail · PR reject · Conflict</a:t>
            </a:r>
            <a:endParaRPr lang="en-US" sz="1500"/>
          </a:p>
        </p:txBody>
      </p:sp>
      <p:sp>
        <p:nvSpPr>
          <p:cNvPr id="5" name="Shape 3"/>
          <p:cNvSpPr/>
          <p:nvPr/>
        </p:nvSpPr>
        <p:spPr>
          <a:xfrm>
            <a:off x="365760" y="4389120"/>
            <a:ext cx="146304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Flow — Luồng Bug từ QA &amp; Luồng Hotfix</a:t>
            </a:r>
            <a:endParaRPr lang="en-US" sz="180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AIoT Inc  ·  Dev Process v1.1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365760" y="8503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Luồng khi QA tìm ra Bug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365760" y="1161288"/>
            <a:ext cx="41605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11580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115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/>
          </a:p>
        </p:txBody>
      </p:sp>
      <p:sp>
        <p:nvSpPr>
          <p:cNvPr id="9" name="Text 7"/>
          <p:cNvSpPr/>
          <p:nvPr/>
        </p:nvSpPr>
        <p:spPr>
          <a:xfrm>
            <a:off x="786384" y="1161288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tìm bug → tạo ticket mới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365760" y="1563624"/>
            <a:ext cx="41605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613916"/>
            <a:ext cx="237744" cy="23774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6139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/>
          </a:p>
        </p:txBody>
      </p:sp>
      <p:sp>
        <p:nvSpPr>
          <p:cNvPr id="13" name="Text 11"/>
          <p:cNvSpPr/>
          <p:nvPr/>
        </p:nvSpPr>
        <p:spPr>
          <a:xfrm>
            <a:off x="786384" y="1563624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Gắn Priority: P1 / P2 / P3 / P4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365760" y="1965960"/>
            <a:ext cx="41605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016252"/>
            <a:ext cx="237744" cy="23774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0162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/>
          </a:p>
        </p:txBody>
      </p:sp>
      <p:sp>
        <p:nvSpPr>
          <p:cNvPr id="17" name="Text 15"/>
          <p:cNvSpPr/>
          <p:nvPr/>
        </p:nvSpPr>
        <p:spPr>
          <a:xfrm>
            <a:off x="786384" y="1965960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về Dev phụ trách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365760" y="2368296"/>
            <a:ext cx="41605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418588"/>
            <a:ext cx="237744" cy="23774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4185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/>
          </a:p>
        </p:txBody>
      </p:sp>
      <p:sp>
        <p:nvSpPr>
          <p:cNvPr id="21" name="Text 19"/>
          <p:cNvSpPr/>
          <p:nvPr/>
        </p:nvSpPr>
        <p:spPr>
          <a:xfrm>
            <a:off x="786384" y="2368296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fix (theo SLA priority)</a:t>
            </a:r>
            <a:endParaRPr lang="en-US" sz="1000"/>
          </a:p>
        </p:txBody>
      </p:sp>
      <p:sp>
        <p:nvSpPr>
          <p:cNvPr id="22" name="Shape 20"/>
          <p:cNvSpPr/>
          <p:nvPr/>
        </p:nvSpPr>
        <p:spPr>
          <a:xfrm>
            <a:off x="365760" y="2770632"/>
            <a:ext cx="41605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820924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8209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/>
          </a:p>
        </p:txBody>
      </p:sp>
      <p:sp>
        <p:nvSpPr>
          <p:cNvPr id="25" name="Text 23"/>
          <p:cNvSpPr/>
          <p:nvPr/>
        </p:nvSpPr>
        <p:spPr>
          <a:xfrm>
            <a:off x="786384" y="2770632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smoke test lại trên Dev env</a:t>
            </a:r>
            <a:endParaRPr lang="en-US" sz="1000"/>
          </a:p>
        </p:txBody>
      </p:sp>
      <p:sp>
        <p:nvSpPr>
          <p:cNvPr id="26" name="Shape 24"/>
          <p:cNvSpPr/>
          <p:nvPr/>
        </p:nvSpPr>
        <p:spPr>
          <a:xfrm>
            <a:off x="365760" y="3172968"/>
            <a:ext cx="41605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223260"/>
            <a:ext cx="237744" cy="23774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2232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/>
          </a:p>
        </p:txBody>
      </p:sp>
      <p:sp>
        <p:nvSpPr>
          <p:cNvPr id="29" name="Text 27"/>
          <p:cNvSpPr/>
          <p:nvPr/>
        </p:nvSpPr>
        <p:spPr>
          <a:xfrm>
            <a:off x="786384" y="3172968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ticket → Ready for QA lần 2</a:t>
            </a:r>
            <a:endParaRPr lang="en-US" sz="1000"/>
          </a:p>
        </p:txBody>
      </p:sp>
      <p:sp>
        <p:nvSpPr>
          <p:cNvPr id="30" name="Shape 28"/>
          <p:cNvSpPr/>
          <p:nvPr/>
        </p:nvSpPr>
        <p:spPr>
          <a:xfrm>
            <a:off x="365760" y="3575304"/>
            <a:ext cx="41605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625596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6255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/>
          </a:p>
        </p:txBody>
      </p:sp>
      <p:sp>
        <p:nvSpPr>
          <p:cNvPr id="33" name="Text 31"/>
          <p:cNvSpPr/>
          <p:nvPr/>
        </p:nvSpPr>
        <p:spPr>
          <a:xfrm>
            <a:off x="786384" y="3575304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verify → Done hoặc reopen</a:t>
            </a:r>
            <a:endParaRPr lang="en-US" sz="1000"/>
          </a:p>
        </p:txBody>
      </p:sp>
      <p:sp>
        <p:nvSpPr>
          <p:cNvPr id="34" name="Text 32"/>
          <p:cNvSpPr/>
          <p:nvPr/>
        </p:nvSpPr>
        <p:spPr>
          <a:xfrm>
            <a:off x="365760" y="40690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Priority SLA:</a:t>
            </a:r>
            <a:endParaRPr lang="en-US" sz="900"/>
          </a:p>
        </p:txBody>
      </p:sp>
      <p:sp>
        <p:nvSpPr>
          <p:cNvPr id="35" name="Shape 33"/>
          <p:cNvSpPr/>
          <p:nvPr/>
        </p:nvSpPr>
        <p:spPr>
          <a:xfrm>
            <a:off x="365760" y="4288536"/>
            <a:ext cx="987552" cy="6217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325112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Critical</a:t>
            </a:r>
            <a:endParaRPr lang="en-US" sz="800"/>
          </a:p>
        </p:txBody>
      </p:sp>
      <p:sp>
        <p:nvSpPr>
          <p:cNvPr id="37" name="Text 35"/>
          <p:cNvSpPr/>
          <p:nvPr/>
        </p:nvSpPr>
        <p:spPr>
          <a:xfrm>
            <a:off x="365760" y="4526280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ngày</a:t>
            </a:r>
            <a:endParaRPr lang="en-US" sz="800"/>
          </a:p>
        </p:txBody>
      </p:sp>
      <p:sp>
        <p:nvSpPr>
          <p:cNvPr id="38" name="Text 36"/>
          <p:cNvSpPr/>
          <p:nvPr/>
        </p:nvSpPr>
        <p:spPr>
          <a:xfrm>
            <a:off x="365760" y="4709160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release</a:t>
            </a:r>
            <a:endParaRPr lang="en-US" sz="750"/>
          </a:p>
        </p:txBody>
      </p:sp>
      <p:sp>
        <p:nvSpPr>
          <p:cNvPr id="39" name="Shape 37"/>
          <p:cNvSpPr/>
          <p:nvPr/>
        </p:nvSpPr>
        <p:spPr>
          <a:xfrm>
            <a:off x="1417320" y="4288536"/>
            <a:ext cx="987552" cy="6217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417320" y="4325112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High</a:t>
            </a:r>
            <a:endParaRPr lang="en-US" sz="800"/>
          </a:p>
        </p:txBody>
      </p:sp>
      <p:sp>
        <p:nvSpPr>
          <p:cNvPr id="41" name="Text 39"/>
          <p:cNvSpPr/>
          <p:nvPr/>
        </p:nvSpPr>
        <p:spPr>
          <a:xfrm>
            <a:off x="1417320" y="4526280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sprint</a:t>
            </a:r>
            <a:endParaRPr lang="en-US" sz="800"/>
          </a:p>
        </p:txBody>
      </p:sp>
      <p:sp>
        <p:nvSpPr>
          <p:cNvPr id="42" name="Text 40"/>
          <p:cNvSpPr/>
          <p:nvPr/>
        </p:nvSpPr>
        <p:spPr>
          <a:xfrm>
            <a:off x="1417320" y="4709160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release</a:t>
            </a:r>
            <a:endParaRPr lang="en-US" sz="750"/>
          </a:p>
        </p:txBody>
      </p:sp>
      <p:sp>
        <p:nvSpPr>
          <p:cNvPr id="43" name="Shape 41"/>
          <p:cNvSpPr/>
          <p:nvPr/>
        </p:nvSpPr>
        <p:spPr>
          <a:xfrm>
            <a:off x="2468880" y="4288536"/>
            <a:ext cx="987552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68880" y="4325112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Medium</a:t>
            </a:r>
            <a:endParaRPr lang="en-US" sz="800"/>
          </a:p>
        </p:txBody>
      </p:sp>
      <p:sp>
        <p:nvSpPr>
          <p:cNvPr id="45" name="Text 43"/>
          <p:cNvSpPr/>
          <p:nvPr/>
        </p:nvSpPr>
        <p:spPr>
          <a:xfrm>
            <a:off x="2468880" y="4526280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tiếp</a:t>
            </a:r>
            <a:endParaRPr lang="en-US" sz="800"/>
          </a:p>
        </p:txBody>
      </p:sp>
      <p:sp>
        <p:nvSpPr>
          <p:cNvPr id="46" name="Text 44"/>
          <p:cNvSpPr/>
          <p:nvPr/>
        </p:nvSpPr>
        <p:spPr>
          <a:xfrm>
            <a:off x="2468880" y="4709160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block</a:t>
            </a:r>
            <a:endParaRPr lang="en-US" sz="750"/>
          </a:p>
        </p:txBody>
      </p:sp>
      <p:sp>
        <p:nvSpPr>
          <p:cNvPr id="47" name="Shape 45"/>
          <p:cNvSpPr/>
          <p:nvPr/>
        </p:nvSpPr>
        <p:spPr>
          <a:xfrm>
            <a:off x="3520440" y="4288536"/>
            <a:ext cx="987552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20440" y="4325112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Low</a:t>
            </a:r>
            <a:endParaRPr lang="en-US" sz="800"/>
          </a:p>
        </p:txBody>
      </p:sp>
      <p:sp>
        <p:nvSpPr>
          <p:cNvPr id="49" name="Text 47"/>
          <p:cNvSpPr/>
          <p:nvPr/>
        </p:nvSpPr>
        <p:spPr>
          <a:xfrm>
            <a:off x="3520440" y="4526280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800"/>
          </a:p>
        </p:txBody>
      </p:sp>
      <p:sp>
        <p:nvSpPr>
          <p:cNvPr id="50" name="Text 48"/>
          <p:cNvSpPr/>
          <p:nvPr/>
        </p:nvSpPr>
        <p:spPr>
          <a:xfrm>
            <a:off x="3520440" y="4709160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block</a:t>
            </a:r>
            <a:endParaRPr lang="en-US" sz="750"/>
          </a:p>
        </p:txBody>
      </p:sp>
      <p:sp>
        <p:nvSpPr>
          <p:cNvPr id="51" name="Text 49"/>
          <p:cNvSpPr/>
          <p:nvPr/>
        </p:nvSpPr>
        <p:spPr>
          <a:xfrm>
            <a:off x="4663440" y="85039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 Luồng Hotfix — Fix khẩn trên Production</a:t>
            </a:r>
            <a:endParaRPr lang="en-US" sz="1200"/>
          </a:p>
        </p:txBody>
      </p:sp>
      <p:sp>
        <p:nvSpPr>
          <p:cNvPr id="52" name="Shape 50"/>
          <p:cNvSpPr/>
          <p:nvPr/>
        </p:nvSpPr>
        <p:spPr>
          <a:xfrm>
            <a:off x="4663440" y="1161288"/>
            <a:ext cx="4160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36592" y="1197864"/>
            <a:ext cx="237744" cy="2377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36592" y="11978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/>
          </a:p>
        </p:txBody>
      </p:sp>
      <p:sp>
        <p:nvSpPr>
          <p:cNvPr id="55" name="Text 53"/>
          <p:cNvSpPr/>
          <p:nvPr/>
        </p:nvSpPr>
        <p:spPr>
          <a:xfrm>
            <a:off x="5065776" y="11612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bug trên Prod → Lead quyết định hotfix</a:t>
            </a:r>
            <a:endParaRPr lang="en-US" sz="1000"/>
          </a:p>
        </p:txBody>
      </p:sp>
      <p:sp>
        <p:nvSpPr>
          <p:cNvPr id="56" name="Shape 54"/>
          <p:cNvSpPr/>
          <p:nvPr/>
        </p:nvSpPr>
        <p:spPr>
          <a:xfrm>
            <a:off x="4663440" y="1563624"/>
            <a:ext cx="4160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736592" y="1600200"/>
            <a:ext cx="237744" cy="23774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36592" y="16002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/>
          </a:p>
        </p:txBody>
      </p:sp>
      <p:sp>
        <p:nvSpPr>
          <p:cNvPr id="59" name="Text 57"/>
          <p:cNvSpPr/>
          <p:nvPr/>
        </p:nvSpPr>
        <p:spPr>
          <a:xfrm>
            <a:off x="5065776" y="156362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branch hotfix/TICKET-desc từ main</a:t>
            </a:r>
            <a:endParaRPr lang="en-US" sz="1000"/>
          </a:p>
        </p:txBody>
      </p:sp>
      <p:sp>
        <p:nvSpPr>
          <p:cNvPr id="60" name="Shape 58"/>
          <p:cNvSpPr/>
          <p:nvPr/>
        </p:nvSpPr>
        <p:spPr>
          <a:xfrm>
            <a:off x="4663440" y="1965960"/>
            <a:ext cx="4160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736592" y="2002536"/>
            <a:ext cx="237744" cy="23774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36592" y="20025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/>
          </a:p>
        </p:txBody>
      </p:sp>
      <p:sp>
        <p:nvSpPr>
          <p:cNvPr id="63" name="Text 61"/>
          <p:cNvSpPr/>
          <p:nvPr/>
        </p:nvSpPr>
        <p:spPr>
          <a:xfrm>
            <a:off x="5065776" y="19659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nhanh, viết test bao phủ bug</a:t>
            </a:r>
            <a:endParaRPr lang="en-US" sz="1000"/>
          </a:p>
        </p:txBody>
      </p:sp>
      <p:sp>
        <p:nvSpPr>
          <p:cNvPr id="64" name="Shape 62"/>
          <p:cNvSpPr/>
          <p:nvPr/>
        </p:nvSpPr>
        <p:spPr>
          <a:xfrm>
            <a:off x="4663440" y="2368296"/>
            <a:ext cx="4160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736592" y="2404872"/>
            <a:ext cx="237744" cy="23774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36592" y="2404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/>
          </a:p>
        </p:txBody>
      </p:sp>
      <p:sp>
        <p:nvSpPr>
          <p:cNvPr id="67" name="Text 65"/>
          <p:cNvSpPr/>
          <p:nvPr/>
        </p:nvSpPr>
        <p:spPr>
          <a:xfrm>
            <a:off x="5065776" y="23682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với 1 reviewer (Lead) — SLA: 1 giờ</a:t>
            </a:r>
            <a:endParaRPr lang="en-US" sz="1000"/>
          </a:p>
        </p:txBody>
      </p:sp>
      <p:sp>
        <p:nvSpPr>
          <p:cNvPr id="68" name="Shape 66"/>
          <p:cNvSpPr/>
          <p:nvPr/>
        </p:nvSpPr>
        <p:spPr>
          <a:xfrm>
            <a:off x="4663440" y="2770632"/>
            <a:ext cx="4160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36592" y="2807208"/>
            <a:ext cx="237744" cy="23774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36592" y="28072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/>
          </a:p>
        </p:txBody>
      </p:sp>
      <p:sp>
        <p:nvSpPr>
          <p:cNvPr id="71" name="Text 69"/>
          <p:cNvSpPr/>
          <p:nvPr/>
        </p:nvSpPr>
        <p:spPr>
          <a:xfrm>
            <a:off x="5065776" y="27706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vào main → Deploy Prod</a:t>
            </a:r>
            <a:endParaRPr lang="en-US" sz="1000"/>
          </a:p>
        </p:txBody>
      </p:sp>
      <p:sp>
        <p:nvSpPr>
          <p:cNvPr id="72" name="Shape 70"/>
          <p:cNvSpPr/>
          <p:nvPr/>
        </p:nvSpPr>
        <p:spPr>
          <a:xfrm>
            <a:off x="4663440" y="3172968"/>
            <a:ext cx="4160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736592" y="3209544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736592" y="32095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/>
          </a:p>
        </p:txBody>
      </p:sp>
      <p:sp>
        <p:nvSpPr>
          <p:cNvPr id="75" name="Text 73"/>
          <p:cNvSpPr/>
          <p:nvPr/>
        </p:nvSpPr>
        <p:spPr>
          <a:xfrm>
            <a:off x="5065776" y="31729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ngược lại vào develop</a:t>
            </a:r>
            <a:endParaRPr lang="en-US" sz="1000"/>
          </a:p>
        </p:txBody>
      </p:sp>
      <p:sp>
        <p:nvSpPr>
          <p:cNvPr id="76" name="Shape 74"/>
          <p:cNvSpPr/>
          <p:nvPr/>
        </p:nvSpPr>
        <p:spPr>
          <a:xfrm>
            <a:off x="4663440" y="3575304"/>
            <a:ext cx="4160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736592" y="3611880"/>
            <a:ext cx="237744" cy="237744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736592" y="36118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/>
          </a:p>
        </p:txBody>
      </p:sp>
      <p:sp>
        <p:nvSpPr>
          <p:cNvPr id="79" name="Text 77"/>
          <p:cNvSpPr/>
          <p:nvPr/>
        </p:nvSpPr>
        <p:spPr>
          <a:xfrm>
            <a:off x="5065776" y="35753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version hotfix: v1.2.1</a:t>
            </a:r>
            <a:endParaRPr lang="en-US" sz="1000"/>
          </a:p>
        </p:txBody>
      </p:sp>
      <p:sp>
        <p:nvSpPr>
          <p:cNvPr id="80" name="Shape 78"/>
          <p:cNvSpPr/>
          <p:nvPr/>
        </p:nvSpPr>
        <p:spPr>
          <a:xfrm>
            <a:off x="4663440" y="4069080"/>
            <a:ext cx="4160520" cy="475488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54880" y="4069080"/>
            <a:ext cx="39776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Hotfix khác feature: chỉ cần 1 reviewer, không cần QA test đầy đủ nhưng phải có smoke test trên staging trước khi lên prod.</a:t>
            </a:r>
            <a:endParaRPr lang="en-US" sz="9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Flow — Luồng CI Pipeline fail &amp; PR bị reject nhiều vòng</a:t>
            </a:r>
            <a:endParaRPr lang="en-US" sz="180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AIoT Inc  ·  Dev Process v1.1</a:t>
            </a:r>
            <a:endParaRPr lang="en-US" sz="900"/>
          </a:p>
        </p:txBody>
      </p:sp>
      <p:sp>
        <p:nvSpPr>
          <p:cNvPr id="5" name="Shape 3"/>
          <p:cNvSpPr/>
          <p:nvPr/>
        </p:nvSpPr>
        <p:spPr>
          <a:xfrm>
            <a:off x="365760" y="850392"/>
            <a:ext cx="41605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50392"/>
            <a:ext cx="54864" cy="3977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94183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 Luồng khi CI Pipeline fail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493776" y="1234440"/>
            <a:ext cx="3959352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fail → Slack notify ngay về channel team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owner kiểm tra log lỗi trong 30 phút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là lỗi test: fix code và push lại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là lỗi secret scan: xóa secret khỏi git history (git filter-branch / BFG)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là lỗi build Docker: fix Dockerfile, base image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là lỗi SonarQube Quality Gate: fix issue và re-push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không tự fix được trong 2 giờ → leo thang lên Lead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bị red CI quá 4 giờ → Lead unblock cả team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Không merge khi CI đang đỏ dù đã approve</a:t>
            </a:r>
            <a:endParaRPr lang="en-US" sz="950"/>
          </a:p>
        </p:txBody>
      </p:sp>
      <p:sp>
        <p:nvSpPr>
          <p:cNvPr id="9" name="Shape 7"/>
          <p:cNvSpPr/>
          <p:nvPr/>
        </p:nvSpPr>
        <p:spPr>
          <a:xfrm>
            <a:off x="4663440" y="850392"/>
            <a:ext cx="41605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850392"/>
            <a:ext cx="54864" cy="3977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91456" y="94183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 Luồng khi PR bị reject / nhiều vòng review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4791456" y="1234440"/>
            <a:ext cx="3959352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comment Blocker → Dev phải fix trước khi re-request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fix từng Blocker, reply comment giải thích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Re-request review sau khi fix — không ping Slack liên tục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bất đồng về approach: setup call 15 phút, không cãi qua comment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đa 2 vòng review: nếu vẫn không đạt → Lead phán quyết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PR quá lớn (&gt;500 lines): Lead có quyền yêu cầu break nhỏ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không phản hồi trong 4 giờ → Dev báo Lead để re-assign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 comment không block merge — Dev quyết định có fix hay không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merge: retrospect nếu có &gt;10 Blocker comment trong 1 PR</a:t>
            </a:r>
            <a:endParaRPr lang="en-US" sz="95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Flow — Merge Conflict &amp; Requirement thay đổi giữa chừng</a:t>
            </a:r>
            <a:endParaRPr lang="en-US" sz="180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AIoT Inc  ·  Dev Process v1.1</a:t>
            </a:r>
            <a:endParaRPr lang="en-US" sz="900"/>
          </a:p>
        </p:txBody>
      </p:sp>
      <p:sp>
        <p:nvSpPr>
          <p:cNvPr id="5" name="Shape 3"/>
          <p:cNvSpPr/>
          <p:nvPr/>
        </p:nvSpPr>
        <p:spPr>
          <a:xfrm>
            <a:off x="365760" y="850392"/>
            <a:ext cx="41605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50392"/>
            <a:ext cx="54864" cy="3977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94183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 Luồng khi có Merge Conflict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493776" y="1234440"/>
            <a:ext cx="3959352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Rebase develop vào branch hàng ngày — phòng conflict lớn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nhỏ (1–2 file): dev tự giải quyết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lớn (&gt;5 file): báo lead, cân nhắc merge strategy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resolve conflict bằng cách xóa code của người khác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resolve: chạy lại toàn bộ test để đảm bảo không broken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không chắc code của ai đúng: call nhanh với dev đó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conflict trong file schema/migration: phối hợp với toàn team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Không dùng git merge khi có thể dùng git rebase</a:t>
            </a:r>
            <a:endParaRPr lang="en-US" sz="950"/>
          </a:p>
        </p:txBody>
      </p:sp>
      <p:sp>
        <p:nvSpPr>
          <p:cNvPr id="9" name="Shape 7"/>
          <p:cNvSpPr/>
          <p:nvPr/>
        </p:nvSpPr>
        <p:spPr>
          <a:xfrm>
            <a:off x="4663440" y="850392"/>
            <a:ext cx="41605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850392"/>
            <a:ext cx="54864" cy="3977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91456" y="94183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 Luồng khi Requirement thay đổi giữa chừng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4791456" y="1234440"/>
            <a:ext cx="3959352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thông báo req thay đổi → Dev dừng code ngay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estimate lại impact: mất bao nhiêu giờ, thay đổi gì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và PM họp ngắn (≤15 phút): quyết định scope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thay đổi nhỏ (&lt;2 giờ): update branch hiện tại, tiếp tục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thay đổi lớn (&gt;4 giờ): tạo ticket mới, đóng ticket cũ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thay đổi trái chiều: tạo branch mới, giữ branch cũ để tham khảo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AC và estimate trong ticket trước khi tiếp tục code</a:t>
            </a:r>
            <a:endParaRPr lang="en-US" sz="95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tự ý thay đổi scope mà không báo — gây conflict với stakeholder</a:t>
            </a:r>
            <a:endParaRPr lang="en-US" sz="95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374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0" y="1828800"/>
            <a:ext cx="3291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0" b="1">
                <a:solidFill>
                  <a:srgbClr val="FFFFFF">
                    <a:alpha val="7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0"/>
          </a:p>
        </p:txBody>
      </p:sp>
      <p:sp>
        <p:nvSpPr>
          <p:cNvPr id="3" name="Text 1"/>
          <p:cNvSpPr/>
          <p:nvPr/>
        </p:nvSpPr>
        <p:spPr>
          <a:xfrm>
            <a:off x="365760" y="14630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07</a:t>
            </a:r>
            <a:endParaRPr lang="en-US" sz="3400"/>
          </a:p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 lục</a:t>
            </a:r>
            <a:endParaRPr lang="en-US" sz="3400"/>
          </a:p>
        </p:txBody>
      </p:sp>
      <p:sp>
        <p:nvSpPr>
          <p:cNvPr id="4" name="Text 2"/>
          <p:cNvSpPr/>
          <p:nvPr/>
        </p:nvSpPr>
        <p:spPr>
          <a:xfrm>
            <a:off x="365760" y="26060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A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Template · QA Handoff Template · CI Config · Glossary</a:t>
            </a:r>
            <a:endParaRPr lang="en-US" sz="1500"/>
          </a:p>
        </p:txBody>
      </p:sp>
      <p:sp>
        <p:nvSpPr>
          <p:cNvPr id="5" name="Shape 3"/>
          <p:cNvSpPr/>
          <p:nvPr/>
        </p:nvSpPr>
        <p:spPr>
          <a:xfrm>
            <a:off x="365760" y="4389120"/>
            <a:ext cx="146304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 lục A — PR Template (copy vào .gitlab/merge_request_templates/)</a:t>
            </a:r>
            <a:endParaRPr lang="en-US" sz="180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AIoT Inc  ·  Dev Process v1.1</a:t>
            </a:r>
            <a:endParaRPr lang="en-US" sz="900"/>
          </a:p>
        </p:txBody>
      </p:sp>
      <p:sp>
        <p:nvSpPr>
          <p:cNvPr id="5" name="Shape 3"/>
          <p:cNvSpPr/>
          <p:nvPr/>
        </p:nvSpPr>
        <p:spPr>
          <a:xfrm>
            <a:off x="365760" y="850392"/>
            <a:ext cx="4160520" cy="397764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41832"/>
            <a:ext cx="3977640" cy="3794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90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Mô tả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90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Ticket: [PROJ-XXX](link)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90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Tóm tắt thay đổi trong PR này.</a:t>
            </a:r>
            <a:endParaRPr lang="en-US" sz="800"/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90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Loại thay đổi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90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feat / fix / refactor / docs / chore</a:t>
            </a:r>
            <a:endParaRPr lang="en-US" sz="800"/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90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Test plan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90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1. ...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90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2. ...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90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Expected: ...</a:t>
            </a:r>
            <a:endParaRPr lang="en-US" sz="800"/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90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Security checklist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90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Input đã được validate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90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Không có secret/hardcoded value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90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Auth/permission đã kiểm tra</a:t>
            </a:r>
            <a:endParaRPr lang="en-US" sz="800"/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90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Self-review checklist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90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Đã tự đọc lại toàn bộ diff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90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Lint + test pass locally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90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Không có debug code</a:t>
            </a:r>
            <a:endParaRPr lang="en-US" sz="800"/>
          </a:p>
        </p:txBody>
      </p:sp>
      <p:sp>
        <p:nvSpPr>
          <p:cNvPr id="7" name="Text 5"/>
          <p:cNvSpPr/>
          <p:nvPr/>
        </p:nvSpPr>
        <p:spPr>
          <a:xfrm>
            <a:off x="4663440" y="85039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 lục B — Template bàn giao QA (comment vào ticket)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4160520" cy="3685032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234440"/>
            <a:ext cx="3977640" cy="35021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90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✅ Ready for QA</a:t>
            </a:r>
            <a:endParaRPr lang="en-US" sz="800"/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90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**Dev env URL:** https://dev.example.com</a:t>
            </a:r>
            <a:endParaRPr lang="en-US" sz="800"/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90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**Account test:**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90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User: test@example.com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90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Password: Test@123</a:t>
            </a:r>
            <a:endParaRPr lang="en-US" sz="800"/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90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**Steps to test:**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90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Đăng nhập bằng account trên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90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Vào menu Settings &gt; Profile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90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3. ...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90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Expected: ...</a:t>
            </a:r>
            <a:endParaRPr lang="en-US" sz="800"/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90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**Edge cases cần chú ý:**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90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Thử với user không có permission</a:t>
            </a: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90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Thử với input rỗng / quá dài</a:t>
            </a:r>
            <a:endParaRPr lang="en-US" sz="800"/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r>
              <a:rPr lang="en-US" sz="800">
                <a:solidFill>
                  <a:srgbClr val="90C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**Note:** API endpoint: POST /api/v1/...</a:t>
            </a:r>
            <a:endParaRPr lang="en-US" sz="8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 lục E — Glossary &amp; Phụ lục F — Lịch sử thay đổi tài liệu</a:t>
            </a:r>
            <a:endParaRPr lang="en-US" sz="180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AIoT Inc  ·  Dev Process v1.1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365760" y="85039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mục từ viết tắt &amp; Định nghĩa</a:t>
            </a:r>
            <a:endParaRPr lang="en-US" sz="120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4160520" cy="9144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Thuật ngữ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Giải thích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1C3A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</a:t>
                      </a:r>
                      <a:endParaRPr lang="en-US" sz="9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Acceptance Criteria — tiêu chí chấp nhận của ticket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1C3A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 / MR</a:t>
                      </a:r>
                      <a:endParaRPr lang="en-US" sz="9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 Request / Merge Request — yêu cầu merge code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1C3A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CI/CD</a:t>
                      </a:r>
                      <a:endParaRPr lang="en-US" sz="9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Integration / Delivery — tự động build, test, deploy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1C3A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SAST</a:t>
                      </a:r>
                      <a:endParaRPr lang="en-US" sz="9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Application Security Testing — phân tích bảo mật code tĩnh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1C3A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CVE</a:t>
                      </a:r>
                      <a:endParaRPr lang="en-US" sz="9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Vulnerabilities and Exposures — mã lỗ hổng bảo mật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1C3A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SLA</a:t>
                      </a:r>
                      <a:endParaRPr lang="en-US" sz="9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Level Agreement — cam kết thời gian phản hồi/xử lý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1C3A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RACI</a:t>
                      </a:r>
                      <a:endParaRPr lang="en-US" sz="9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Responsible, Accountable, Consulted, Informed — ma trận vai trò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1C3A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Smoke test</a:t>
                      </a:r>
                      <a:endParaRPr lang="en-US" sz="9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Kiểm tra nhanh tính năng chính sau khi deploy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1C3A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Hotfix</a:t>
                      </a:r>
                      <a:endParaRPr lang="en-US" sz="9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khẩn cho lỗi nghiêm trọng trên production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1C3A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Squash merge</a:t>
                      </a:r>
                      <a:endParaRPr lang="en-US" sz="9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Gộp tất cả commit của branch thành 1 commit khi merge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1C3A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Rebase</a:t>
                      </a:r>
                      <a:endParaRPr lang="en-US" sz="9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Sắp xếp lại lịch sử commit cho gọn và tuyến tính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663440" y="85039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 sử thay đổi tài liệu</a:t>
            </a:r>
            <a:endParaRPr lang="en-US" sz="1200"/>
          </a:p>
        </p:txBody>
      </p:sp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43000"/>
          <a:ext cx="4160520" cy="9144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Ngày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Người sửa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Thay đổi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0EA5E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v1.1</a:t>
                      </a:r>
                      <a:endParaRPr lang="en-US" sz="9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2026-03-18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 Lead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Bổ sung Ch.1 Basic Flow, Ch.6 Detail Flow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0EA5E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v1.0</a:t>
                      </a:r>
                      <a:endParaRPr lang="en-US" sz="9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2026-03-01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 Lead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Khởi tạo tài liệu — 6 chương cơ bản</a:t>
                      </a:r>
                      <a:endParaRPr lang="en-US" sz="9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663440" y="2286000"/>
            <a:ext cx="4160520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663440" y="2286000"/>
            <a:ext cx="54864" cy="28163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800600" y="237744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 tắc bảo trì tài liệu</a:t>
            </a:r>
            <a:endParaRPr lang="en-US" sz="1000"/>
          </a:p>
        </p:txBody>
      </p:sp>
      <p:sp>
        <p:nvSpPr>
          <p:cNvPr id="12" name="Text 8"/>
          <p:cNvSpPr/>
          <p:nvPr/>
        </p:nvSpPr>
        <p:spPr>
          <a:xfrm>
            <a:off x="4800600" y="267919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tài liệu mỗi quý — cập nhật nếu quy trình thay đổi</a:t>
            </a:r>
            <a:endParaRPr lang="en-US" sz="950"/>
          </a:p>
        </p:txBody>
      </p:sp>
      <p:sp>
        <p:nvSpPr>
          <p:cNvPr id="13" name="Text 9"/>
          <p:cNvSpPr/>
          <p:nvPr/>
        </p:nvSpPr>
        <p:spPr>
          <a:xfrm>
            <a:off x="4800600" y="304495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Khi thêm tool mới → cập nhật Chương 5</a:t>
            </a:r>
            <a:endParaRPr lang="en-US" sz="950"/>
          </a:p>
        </p:txBody>
      </p:sp>
      <p:sp>
        <p:nvSpPr>
          <p:cNvPr id="14" name="Text 10"/>
          <p:cNvSpPr/>
          <p:nvPr/>
        </p:nvSpPr>
        <p:spPr>
          <a:xfrm>
            <a:off x="4800600" y="341071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Khi có incident mới → cập nhật Chương 6 Detail Flow</a:t>
            </a:r>
            <a:endParaRPr lang="en-US" sz="950"/>
          </a:p>
        </p:txBody>
      </p:sp>
      <p:sp>
        <p:nvSpPr>
          <p:cNvPr id="15" name="Text 11"/>
          <p:cNvSpPr/>
          <p:nvPr/>
        </p:nvSpPr>
        <p:spPr>
          <a:xfrm>
            <a:off x="4800600" y="377647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 mới join → đọc Ch.0 và Ch.1 đầu tiên</a:t>
            </a:r>
            <a:endParaRPr lang="en-US" sz="950"/>
          </a:p>
        </p:txBody>
      </p:sp>
      <p:sp>
        <p:nvSpPr>
          <p:cNvPr id="16" name="Text 12"/>
          <p:cNvSpPr/>
          <p:nvPr/>
        </p:nvSpPr>
        <p:spPr>
          <a:xfrm>
            <a:off x="4800600" y="414223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Mọi thay đổi phải ghi vào Changelog (mục F này)</a:t>
            </a:r>
            <a:endParaRPr lang="en-US" sz="950"/>
          </a:p>
        </p:txBody>
      </p:sp>
      <p:sp>
        <p:nvSpPr>
          <p:cNvPr id="17" name="Text 13"/>
          <p:cNvSpPr/>
          <p:nvPr/>
        </p:nvSpPr>
        <p:spPr>
          <a:xfrm>
            <a:off x="4800600" y="450799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Tech Lead là người phê duyệt thay đổi tài liệu</a:t>
            </a:r>
            <a:endParaRPr lang="en-US" sz="95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C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F4E"/>
          </a:solidFill>
          <a:ln w="12700">
            <a:solidFill>
              <a:srgbClr val="162F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548640"/>
            <a:ext cx="1554480" cy="12344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62179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200"/>
          </a:p>
        </p:txBody>
      </p:sp>
      <p:sp>
        <p:nvSpPr>
          <p:cNvPr id="6" name="Text 4"/>
          <p:cNvSpPr/>
          <p:nvPr/>
        </p:nvSpPr>
        <p:spPr>
          <a:xfrm>
            <a:off x="1371600" y="120700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3291840" y="548640"/>
            <a:ext cx="1554480" cy="12344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62179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/>
          </a:p>
        </p:txBody>
      </p:sp>
      <p:sp>
        <p:nvSpPr>
          <p:cNvPr id="9" name="Text 7"/>
          <p:cNvSpPr/>
          <p:nvPr/>
        </p:nvSpPr>
        <p:spPr>
          <a:xfrm>
            <a:off x="3291840" y="120700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Dev Phase</a:t>
            </a:r>
            <a:endParaRPr lang="en-US" sz="900"/>
          </a:p>
        </p:txBody>
      </p:sp>
      <p:sp>
        <p:nvSpPr>
          <p:cNvPr id="10" name="Shape 8"/>
          <p:cNvSpPr/>
          <p:nvPr/>
        </p:nvSpPr>
        <p:spPr>
          <a:xfrm>
            <a:off x="5212080" y="548640"/>
            <a:ext cx="1554480" cy="12344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0" y="62179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3200"/>
          </a:p>
        </p:txBody>
      </p:sp>
      <p:sp>
        <p:nvSpPr>
          <p:cNvPr id="12" name="Text 10"/>
          <p:cNvSpPr/>
          <p:nvPr/>
        </p:nvSpPr>
        <p:spPr>
          <a:xfrm>
            <a:off x="5212080" y="120700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cụ</a:t>
            </a:r>
            <a:endParaRPr lang="en-US" sz="900"/>
          </a:p>
        </p:txBody>
      </p:sp>
      <p:sp>
        <p:nvSpPr>
          <p:cNvPr id="13" name="Shape 11"/>
          <p:cNvSpPr/>
          <p:nvPr/>
        </p:nvSpPr>
        <p:spPr>
          <a:xfrm>
            <a:off x="7132320" y="548640"/>
            <a:ext cx="1554480" cy="12344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0" y="62179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/>
          </a:p>
        </p:txBody>
      </p:sp>
      <p:sp>
        <p:nvSpPr>
          <p:cNvPr id="15" name="Text 13"/>
          <p:cNvSpPr/>
          <p:nvPr/>
        </p:nvSpPr>
        <p:spPr>
          <a:xfrm>
            <a:off x="7132320" y="120700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ngoại lệ</a:t>
            </a:r>
            <a:endParaRPr lang="en-US" sz="900"/>
          </a:p>
        </p:txBody>
      </p:sp>
      <p:sp>
        <p:nvSpPr>
          <p:cNvPr id="16" name="Text 14"/>
          <p:cNvSpPr/>
          <p:nvPr/>
        </p:nvSpPr>
        <p:spPr>
          <a:xfrm>
            <a:off x="1097280" y="2084832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liệu được duyệt — sẵn sàng áp dụng</a:t>
            </a:r>
            <a:endParaRPr lang="en-US" sz="2800"/>
          </a:p>
        </p:txBody>
      </p:sp>
      <p:sp>
        <p:nvSpPr>
          <p:cNvPr id="17" name="Text 15"/>
          <p:cNvSpPr/>
          <p:nvPr/>
        </p:nvSpPr>
        <p:spPr>
          <a:xfrm>
            <a:off x="1371600" y="30175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7AA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thắc mắc về quy trình — liên hệ Tech Lead hoặc comment vào tài liệu trên Confluence/Notion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3474720" y="3749040"/>
            <a:ext cx="2194560" cy="3200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3749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AIoT Inc  ·  Dev Process v1.1  ·  2026</a:t>
            </a: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27</Slides>
  <Notes>27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Quy trình Phát triển Phần mềm — Dev Phase</dc:title>
  <dc:subject>PptxGenJS Presentation</dc:subject>
  <dc:creator>AIoT Inc</dc:creator>
  <cp:revision>1</cp:revision>
  <dcterms:created xsi:type="dcterms:W3CDTF">2026-03-18T06:47:37Z</dcterms:created>
  <dcterms:modified xsi:type="dcterms:W3CDTF">2026-03-18T07:01:31Z</dcterms:modified>
</cp:coreProperties>
</file>